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problem: farmers and farm advisors need a fast first check of tomato leaf diseases. Checking by eye is slow and needs an expert. Goal: a model that takes a leaf photo, names the most likely disease, shows how confident it is, and explains the result in plain words. It is a first check, not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comes from TensorFlow Datasets, as the brief asks. The full PlantVillage set has 54,303 images in 38 classes across 14 crops. I kept only tomato: 10 classes, 9 diseases plus healthy, 18,159 images. Tomato only means the model has to learn disease features, not just tell crops apart. I split each class 80/10/10 separately with seed 42, so every split has the same disease mix: 14,522 train, 1,812 validation, 1,825 test, which adds back to 18,159. I did not use the train[:80%] slice syntax because it cuts by position before the tomato filter, so the splits would not be balanced by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Biggest class has 4,285 training images, smallest has 298, about 14 times fewer. That is why I do not rely on accuracy alone. Data checks: every image is 256 by 256 with 3 colour channels, pixels 0 to 255. A pixel-level hash check found 14 exact duplicate pairs in the source data, all with the same label. 4 pairs fall across train and validation, none in test, so the test set is clean. I kept them because the effect on validation is about 0.2 percent. Preprocessing: resize to 224 for the pretrained models, normalise per model, and augment only the training images so the model sees leaves at different angles and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a small CNN trained from scratch. Most of its 23.9 million parameters sit in the dense layer after Flatten. It has no augmentation on purpose, so it is a clean reference point. MobileNetV2 and ResNet50 start from ImageNet weights. With the base frozen, only the new last layer trains: 12.8 thousand parameters for MobileNetV2, 20.5 thousand for ResNet50. For MobileNetV2 I then fine-tuned layers 100 to 153, which makes 1.85 million parameters trainable, at a learning rate of 0.00001. BatchNorm stays frozen, because unfreezing it broke training. ResNet50 was not fine-tuned: fine-tuned MobileNetV2 was already better on validation and 10 times smaller, and fine-tuning is optional in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decision I made from the validation set. The default learning rate made the baseline loss explode, so I used 0.0001. Two runs without a seed gave 72 and 82 percent, so I fixed the seed at 42 to make results repeatable. Early stopping and learning-rate reduction lifted the baseline from 88.5 to 90.2 percent and are used for every model. My first fine-tuning run without frozen BatchNorm broke: training accuracy fell to 75 percent, so BatchNorm stays frozen. Augmentation: for fine-tuned MobileNetV2 accuracy stayed at 96.5 percent and overfitting went down. For frozen ResNet50 it dropped from 98 to 95.5 percent on lab-style validation images. I kept augmentation because real photos vary more than lab photos. Honest caveat: those runs also differ in callbacks, so it is not a clean one-change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set was used only here, never to choose a model. Fine-tuned MobileNetV2 and frozen ResNet50 are basically tied: 96.8 vs 96.7 percent accuracy, which is about 3 images. ResNet50 has slightly higher macro-F1, so it does a bit better on small classes. Top-3 accuracy is 99.7 percent, so the right answer is almost always in the top 3, which is why the app shows three. The weakest class is Early blight, 78 of 100 found, mostly confused with Target spot because both show brown ringed spots. The most dangerous mistake is calling a sick leaf healthy: MobileNetV2 does that 7 times out of 1,665 diseased leaves, ResNet50 13 times. That plus its size, 8.7 MB vs 90 MB, is why the app uses MobileNetV2. Latency is about the same for both, so size is the reason, not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here. Walk through the flow: a user uploads a leaf photo or picks a test sample, the image is resized to 224 by 224, MobileNetV2 gives a probability for each of the 10 classes, and the app shows the top class, its confidence, the next two possibilities, and a plain-language explanation with a suggested next step. If confidence is below 70 percent it shows a warning. I picked 70 percent on the validation set, not test: below it the model is right only 61.9 percent of the time, above it 98.2 percent. Demo order: three correct samples, then the Late blight leaf the model calls Healthy at 66.5 percent. The warning appears, which shows why the app always says to confirm with an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limitation: every training and test image is a lab photo of one leaf on a plain background. Field photos with soil, other leaves and shadows were not formally evaluated, and the model can be wrong on them even with high confidence. The 70 percent warning was set on lab-style validation images, so it cannot catch those. It only knows tomato, so any other image is still forced into one of the 10 classes. Responsible use: the app is advisory only, it shows its confidence and limits, and always points to an expert, as the brief requires. Next steps: test and train on field photos, stronger augmentation, fine-tune ResNet50, and a TensorFlow Lite version of MobileNetV2 for an offline phone app, which is part of why I chose a small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D2B23"/>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D2B2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D2B23"/>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D2B2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B23"/>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8A5D"/>
                </a:solidFill>
                <a:latin typeface="Arial" pitchFamily="34" charset="0"/>
                <a:ea typeface="Arial" pitchFamily="34" charset="-122"/>
                <a:cs typeface="Arial" pitchFamily="34" charset="-120"/>
              </a:rPr>
              <a:t>PGDS AIML CAPSTONE · OCTOBER 2026</a:t>
            </a:r>
            <a:endParaRPr lang="en-US" sz="1400" dirty="0"/>
          </a:p>
        </p:txBody>
      </p:sp>
      <p:sp>
        <p:nvSpPr>
          <p:cNvPr id="3" name="Text 1"/>
          <p:cNvSpPr/>
          <p:nvPr>
            <p:ph type="title"/>
          </p:nvPr>
        </p:nvSpPr>
        <p:spPr>
          <a:xfrm>
            <a:off x="812800" y="2655590"/>
            <a:ext cx="11379200" cy="71879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4EE"/>
                </a:solidFill>
                <a:latin typeface="Georgia" pitchFamily="18" charset="0"/>
                <a:ea typeface="Georgia" pitchFamily="18" charset="-122"/>
                <a:cs typeface="Georgia" pitchFamily="18" charset="-120"/>
              </a:rPr>
              <a:t>Tomato Leaf Disease Detection</a:t>
            </a:r>
            <a:endParaRPr lang="en-US" sz="5200" dirty="0"/>
          </a:p>
        </p:txBody>
      </p:sp>
      <p:sp>
        <p:nvSpPr>
          <p:cNvPr id="4" name="Text 2"/>
          <p:cNvSpPr/>
          <p:nvPr/>
        </p:nvSpPr>
        <p:spPr>
          <a:xfrm>
            <a:off x="812800" y="355218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9DED8"/>
                </a:solidFill>
                <a:latin typeface="Arial" pitchFamily="34" charset="0"/>
                <a:ea typeface="Arial" pitchFamily="34" charset="-122"/>
                <a:cs typeface="Arial" pitchFamily="34" charset="-120"/>
              </a:rPr>
              <a:t>A model that checks tomato leaf photos for 9 diseases, with a Streamlit app to try it</a:t>
            </a:r>
            <a:endParaRPr lang="en-US" sz="2000" dirty="0"/>
          </a:p>
        </p:txBody>
      </p:sp>
      <p:sp>
        <p:nvSpPr>
          <p:cNvPr id="5" name="Text 3"/>
          <p:cNvSpPr/>
          <p:nvPr/>
        </p:nvSpPr>
        <p:spPr>
          <a:xfrm>
            <a:off x="812800" y="5476280"/>
            <a:ext cx="71945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8A5D"/>
                </a:solidFill>
                <a:latin typeface="Arial" pitchFamily="34" charset="0"/>
                <a:ea typeface="Arial" pitchFamily="34" charset="-122"/>
                <a:cs typeface="Arial" pitchFamily="34" charset="-120"/>
              </a:rPr>
              <a:t>Problem:</a:t>
            </a:r>
            <a:r>
              <a:rPr lang="en-US" sz="1600" dirty="0">
                <a:solidFill>
                  <a:srgbClr val="D9DED8"/>
                </a:solidFill>
                <a:latin typeface="Arial" pitchFamily="34" charset="0"/>
                <a:ea typeface="Arial" pitchFamily="34" charset="-122"/>
                <a:cs typeface="Arial" pitchFamily="34" charset="-120"/>
              </a:rPr>
              <a:t> checking leaves by eye is slow and needs an expert, who isn't always around. Farmers need a quick first check.</a:t>
            </a:r>
            <a:endParaRPr lang="en-US" sz="1600" dirty="0"/>
          </a:p>
        </p:txBody>
      </p:sp>
      <p:sp>
        <p:nvSpPr>
          <p:cNvPr id="6" name="Text 4"/>
          <p:cNvSpPr/>
          <p:nvPr/>
        </p:nvSpPr>
        <p:spPr>
          <a:xfrm>
            <a:off x="9994106" y="5547420"/>
            <a:ext cx="1385094" cy="52318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6F4EE"/>
                </a:solidFill>
                <a:latin typeface="Arial" pitchFamily="34" charset="0"/>
                <a:ea typeface="Arial" pitchFamily="34" charset="-122"/>
                <a:cs typeface="Arial" pitchFamily="34" charset="-120"/>
              </a:rPr>
              <a:t>Gyanesh Apte</a:t>
            </a:r>
            <a:endParaRPr lang="en-US" sz="1400" dirty="0"/>
          </a:p>
          <a:p>
            <a:pPr algn="r" indent="0" marL="0">
              <a:lnSpc>
                <a:spcPts val="1960"/>
              </a:lnSpc>
              <a:buNone/>
            </a:pPr>
            <a:r>
              <a:rPr lang="en-US" sz="1400" dirty="0">
                <a:solidFill>
                  <a:srgbClr val="F6F4EE"/>
                </a:solidFill>
                <a:latin typeface="Arial" pitchFamily="34" charset="0"/>
                <a:ea typeface="Arial" pitchFamily="34" charset="-122"/>
                <a:cs typeface="Arial" pitchFamily="34" charset="-120"/>
              </a:rPr>
              <a:t>Individual project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B23"/>
                </a:solidFill>
                <a:latin typeface="Georgia" pitchFamily="18" charset="0"/>
                <a:ea typeface="Georgia" pitchFamily="18" charset="-122"/>
                <a:cs typeface="Georgia" pitchFamily="18" charset="-120"/>
              </a:rPr>
              <a:t>Dataset: PlantVillage, tomato leaves</a:t>
            </a:r>
            <a:endParaRPr lang="en-US" sz="3600" dirty="0"/>
          </a:p>
        </p:txBody>
      </p:sp>
      <p:sp>
        <p:nvSpPr>
          <p:cNvPr id="3" name="Shape 1"/>
          <p:cNvSpPr/>
          <p:nvPr/>
        </p:nvSpPr>
        <p:spPr>
          <a:xfrm>
            <a:off x="812800" y="1620490"/>
            <a:ext cx="2070100" cy="1183580"/>
          </a:xfrm>
          <a:prstGeom prst="roundRect">
            <a:avLst>
              <a:gd name="adj" fmla="val 8584"/>
            </a:avLst>
          </a:prstGeom>
          <a:solidFill>
            <a:srgbClr val="EBEFE6"/>
          </a:solidFill>
          <a:ln/>
        </p:spPr>
      </p:sp>
      <p:sp>
        <p:nvSpPr>
          <p:cNvPr id="4" name="Text 2"/>
          <p:cNvSpPr/>
          <p:nvPr/>
        </p:nvSpPr>
        <p:spPr>
          <a:xfrm>
            <a:off x="990600" y="1772890"/>
            <a:ext cx="176593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D2B23"/>
                </a:solidFill>
                <a:latin typeface="Georgia" pitchFamily="18" charset="0"/>
                <a:ea typeface="Georgia" pitchFamily="18" charset="-122"/>
                <a:cs typeface="Georgia" pitchFamily="18" charset="-120"/>
              </a:rPr>
              <a:t>54,303</a:t>
            </a:r>
            <a:endParaRPr lang="en-US" sz="2800" dirty="0"/>
          </a:p>
        </p:txBody>
      </p:sp>
      <p:sp>
        <p:nvSpPr>
          <p:cNvPr id="5" name="Text 3"/>
          <p:cNvSpPr/>
          <p:nvPr/>
        </p:nvSpPr>
        <p:spPr>
          <a:xfrm>
            <a:off x="990600" y="2189411"/>
            <a:ext cx="17659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25B"/>
                </a:solidFill>
                <a:latin typeface="Arial" pitchFamily="34" charset="0"/>
                <a:ea typeface="Arial" pitchFamily="34" charset="-122"/>
                <a:cs typeface="Arial" pitchFamily="34" charset="-120"/>
              </a:rPr>
              <a:t>images, 38 classes, 14 crops</a:t>
            </a:r>
            <a:endParaRPr lang="en-US" sz="1300" dirty="0"/>
          </a:p>
        </p:txBody>
      </p:sp>
      <p:pic>
        <p:nvPicPr>
          <p:cNvPr id="6" name="Image 0" descr="Chart">    </p:cNvPr>
          <p:cNvPicPr>
            <a:picLocks noChangeAspect="1"/>
          </p:cNvPicPr>
          <p:nvPr/>
        </p:nvPicPr>
        <p:blipFill>
          <a:blip r:embed="rId1"/>
          <a:srcRect l="0" r="0" t="0" b="0"/>
          <a:stretch/>
        </p:blipFill>
        <p:spPr>
          <a:xfrm>
            <a:off x="3035300" y="2085280"/>
            <a:ext cx="254000" cy="254000"/>
          </a:xfrm>
          <a:prstGeom prst="rect">
            <a:avLst/>
          </a:prstGeom>
        </p:spPr>
      </p:pic>
      <p:sp>
        <p:nvSpPr>
          <p:cNvPr id="7" name="Shape 4"/>
          <p:cNvSpPr/>
          <p:nvPr/>
        </p:nvSpPr>
        <p:spPr>
          <a:xfrm>
            <a:off x="3441700" y="1620490"/>
            <a:ext cx="2070100" cy="1183580"/>
          </a:xfrm>
          <a:prstGeom prst="roundRect">
            <a:avLst>
              <a:gd name="adj" fmla="val 8584"/>
            </a:avLst>
          </a:prstGeom>
          <a:solidFill>
            <a:srgbClr val="1D2B23"/>
          </a:solidFill>
          <a:ln/>
        </p:spPr>
      </p:sp>
      <p:sp>
        <p:nvSpPr>
          <p:cNvPr id="8" name="Text 5"/>
          <p:cNvSpPr/>
          <p:nvPr/>
        </p:nvSpPr>
        <p:spPr>
          <a:xfrm>
            <a:off x="3619500" y="1772890"/>
            <a:ext cx="176593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08A5D"/>
                </a:solidFill>
                <a:latin typeface="Georgia" pitchFamily="18" charset="0"/>
                <a:ea typeface="Georgia" pitchFamily="18" charset="-122"/>
                <a:cs typeface="Georgia" pitchFamily="18" charset="-120"/>
              </a:rPr>
              <a:t>18,159</a:t>
            </a:r>
            <a:endParaRPr lang="en-US" sz="2800" dirty="0"/>
          </a:p>
        </p:txBody>
      </p:sp>
      <p:sp>
        <p:nvSpPr>
          <p:cNvPr id="9" name="Text 6"/>
          <p:cNvSpPr/>
          <p:nvPr/>
        </p:nvSpPr>
        <p:spPr>
          <a:xfrm>
            <a:off x="3619500" y="2189411"/>
            <a:ext cx="17659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Arial" pitchFamily="34" charset="0"/>
                <a:ea typeface="Arial" pitchFamily="34" charset="-122"/>
                <a:cs typeface="Arial" pitchFamily="34" charset="-120"/>
              </a:rPr>
              <a:t>tomato images, 10 classes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3019971"/>
          <a:ext cx="4686300" cy="1930053"/>
        </p:xfrm>
        <a:graphic>
          <a:graphicData uri="http://schemas.openxmlformats.org/drawingml/2006/table">
            <a:tbl>
              <a:tblPr/>
              <a:tblGrid>
                <a:gridCol w="1874520"/>
                <a:gridCol w="1405890"/>
                <a:gridCol w="1405890"/>
              </a:tblGrid>
              <a:tr h="386011">
                <a:tc>
                  <a:txBody>
                    <a:bodyPr/>
                    <a:lstStyle/>
                    <a:p>
                      <a:pPr indent="0" marL="0">
                        <a:lnSpc>
                          <a:spcPts val="1960"/>
                        </a:lnSpc>
                        <a:buNone/>
                      </a:pPr>
                      <a:r>
                        <a:rPr lang="en-US" sz="1400" b="1" dirty="0">
                          <a:solidFill>
                            <a:srgbClr val="1D2B23"/>
                          </a:solidFill>
                          <a:latin typeface="Arial" pitchFamily="34" charset="0"/>
                          <a:ea typeface="Arial" pitchFamily="34" charset="-122"/>
                          <a:cs typeface="Arial" pitchFamily="34" charset="-120"/>
                        </a:rPr>
                        <a:t>Split</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960"/>
                        </a:lnSpc>
                        <a:buNone/>
                      </a:pPr>
                      <a:r>
                        <a:rPr lang="en-US" sz="1400" b="1" dirty="0">
                          <a:solidFill>
                            <a:srgbClr val="1D2B23"/>
                          </a:solidFill>
                          <a:latin typeface="Arial" pitchFamily="34" charset="0"/>
                          <a:ea typeface="Arial" pitchFamily="34" charset="-122"/>
                          <a:cs typeface="Arial" pitchFamily="34" charset="-120"/>
                        </a:rPr>
                        <a:t>Images</a:t>
                      </a:r>
                      <a:endParaRPr lang="en-US" sz="1400" dirty="0">
                        <a:latin typeface="Arial" charset="0"/>
                        <a:ea typeface="Arial" charset="0"/>
                        <a:cs typeface="Arial"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960"/>
                        </a:lnSpc>
                        <a:buNone/>
                      </a:pPr>
                      <a:r>
                        <a:rPr lang="en-US" sz="1400" b="1" dirty="0">
                          <a:solidFill>
                            <a:srgbClr val="1D2B23"/>
                          </a:solidFill>
                          <a:latin typeface="Arial" pitchFamily="34" charset="0"/>
                          <a:ea typeface="Arial" pitchFamily="34" charset="-122"/>
                          <a:cs typeface="Arial" pitchFamily="34" charset="-120"/>
                        </a:rPr>
                        <a:t>Share</a:t>
                      </a:r>
                      <a:endParaRPr lang="en-US" sz="1400" dirty="0">
                        <a:latin typeface="Arial" charset="0"/>
                        <a:ea typeface="Arial" charset="0"/>
                        <a:cs typeface="Arial" charset="0"/>
                      </a:endParaRPr>
                    </a:p>
                  </a:txBody>
                  <a:tcPr marL="62230" marR="62230" marT="62230" marB="6223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86011">
                <a:tc>
                  <a:txBody>
                    <a:bodyPr/>
                    <a:lstStyle/>
                    <a:p>
                      <a:pPr indent="0" marL="0">
                        <a:lnSpc>
                          <a:spcPts val="1960"/>
                        </a:lnSpc>
                        <a:buNone/>
                      </a:pPr>
                      <a:r>
                        <a:rPr lang="en-US" sz="1400" dirty="0">
                          <a:solidFill>
                            <a:srgbClr val="1D2B23"/>
                          </a:solidFill>
                          <a:latin typeface="Arial" pitchFamily="34" charset="0"/>
                          <a:ea typeface="Arial" pitchFamily="34" charset="-122"/>
                          <a:cs typeface="Arial" pitchFamily="34" charset="-120"/>
                        </a:rPr>
                        <a:t>Train</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D2B23"/>
                          </a:solidFill>
                          <a:latin typeface="Arial" pitchFamily="34" charset="0"/>
                          <a:ea typeface="Arial" pitchFamily="34" charset="-122"/>
                          <a:cs typeface="Arial" pitchFamily="34" charset="-120"/>
                        </a:rPr>
                        <a:t>14,522</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D2B23"/>
                          </a:solidFill>
                          <a:latin typeface="Arial" pitchFamily="34" charset="0"/>
                          <a:ea typeface="Arial" pitchFamily="34" charset="-122"/>
                          <a:cs typeface="Arial" pitchFamily="34" charset="-120"/>
                        </a:rPr>
                        <a:t>80%</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2B23"/>
                          </a:solidFill>
                          <a:latin typeface="Arial" pitchFamily="34" charset="0"/>
                          <a:ea typeface="Arial" pitchFamily="34" charset="-122"/>
                          <a:cs typeface="Arial" pitchFamily="34" charset="-120"/>
                        </a:rPr>
                        <a:t>Validation</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D2B23"/>
                          </a:solidFill>
                          <a:latin typeface="Arial" pitchFamily="34" charset="0"/>
                          <a:ea typeface="Arial" pitchFamily="34" charset="-122"/>
                          <a:cs typeface="Arial" pitchFamily="34" charset="-120"/>
                        </a:rPr>
                        <a:t>1,812</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D2B2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2B23"/>
                          </a:solidFill>
                          <a:latin typeface="Arial" pitchFamily="34" charset="0"/>
                          <a:ea typeface="Arial" pitchFamily="34" charset="-122"/>
                          <a:cs typeface="Arial" pitchFamily="34" charset="-120"/>
                        </a:rPr>
                        <a:t>Test</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D2B23"/>
                          </a:solidFill>
                          <a:latin typeface="Arial" pitchFamily="34" charset="0"/>
                          <a:ea typeface="Arial" pitchFamily="34" charset="-122"/>
                          <a:cs typeface="Arial" pitchFamily="34" charset="-120"/>
                        </a:rPr>
                        <a:t>1,825</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D2B2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2B23"/>
                          </a:solidFill>
                          <a:latin typeface="Arial" pitchFamily="34" charset="0"/>
                          <a:ea typeface="Arial" pitchFamily="34" charset="-122"/>
                          <a:cs typeface="Arial" pitchFamily="34" charset="-120"/>
                        </a:rPr>
                        <a:t>Total</a:t>
                      </a:r>
                      <a:endParaRPr lang="en-US" sz="1400" dirty="0">
                        <a:latin typeface="Arial" charset="0"/>
                        <a:ea typeface="Arial" charset="0"/>
                        <a:cs typeface="Arial"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CBF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FB8"/>
                      </a:solidFill>
                      <a:prstDash val="solid"/>
                      <a:round/>
                      <a:headEnd type="none" w="med" len="med"/>
                      <a:tailEnd type="none" w="med" len="med"/>
                    </a:lnB>
                    <a:solidFill>
                      <a:srgbClr val="EBEFE6"/>
                    </a:solidFill>
                  </a:tcPr>
                </a:tc>
                <a:tc>
                  <a:txBody>
                    <a:bodyPr/>
                    <a:lstStyle/>
                    <a:p>
                      <a:pPr algn="r" indent="0" marL="0">
                        <a:lnSpc>
                          <a:spcPts val="1960"/>
                        </a:lnSpc>
                        <a:buNone/>
                      </a:pPr>
                      <a:r>
                        <a:rPr lang="en-US" sz="1400" dirty="0">
                          <a:solidFill>
                            <a:srgbClr val="1D2B23"/>
                          </a:solidFill>
                          <a:latin typeface="Arial" pitchFamily="34" charset="0"/>
                          <a:ea typeface="Arial" pitchFamily="34" charset="-122"/>
                          <a:cs typeface="Arial" pitchFamily="34" charset="-120"/>
                        </a:rPr>
                        <a:t>18,159</a:t>
                      </a:r>
                      <a:endParaRPr lang="en-US" sz="1400" dirty="0">
                        <a:latin typeface="Arial" charset="0"/>
                        <a:ea typeface="Arial" charset="0"/>
                        <a:cs typeface="Arial" charset="0"/>
                      </a:endParaRPr>
                    </a:p>
                  </a:txBody>
                  <a:tcPr marL="62230" marR="62230" marT="62230" marB="62230" anchor="t">
                    <a:lnL w="12700" cap="flat" cmpd="sng" algn="ctr">
                      <a:solidFill>
                        <a:srgbClr val="BCBFB8"/>
                      </a:solidFill>
                      <a:prstDash val="solid"/>
                      <a:round/>
                      <a:headEnd type="none" w="med" len="med"/>
                      <a:tailEnd type="none" w="med" len="med"/>
                    </a:lnL>
                    <a:lnR w="12700" cap="flat" cmpd="sng" algn="ctr">
                      <a:solidFill>
                        <a:srgbClr val="BCBF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FB8"/>
                      </a:solidFill>
                      <a:prstDash val="solid"/>
                      <a:round/>
                      <a:headEnd type="none" w="med" len="med"/>
                      <a:tailEnd type="none" w="med" len="med"/>
                    </a:lnB>
                    <a:solidFill>
                      <a:srgbClr val="EBEFE6"/>
                    </a:solidFill>
                  </a:tcPr>
                </a:tc>
                <a:tc>
                  <a:txBody>
                    <a:bodyPr/>
                    <a:lstStyle/>
                    <a:p>
                      <a:pPr algn="r" indent="0" marL="0">
                        <a:lnSpc>
                          <a:spcPts val="1960"/>
                        </a:lnSpc>
                        <a:buNone/>
                      </a:pPr>
                      <a:r>
                        <a:rPr lang="en-US" sz="1400" dirty="0">
                          <a:solidFill>
                            <a:srgbClr val="1D2B23"/>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62230" marR="62230" marT="62230" marB="62230" anchor="t">
                    <a:lnL w="12700" cap="flat" cmpd="sng" algn="ctr">
                      <a:solidFill>
                        <a:srgbClr val="BCBFB8"/>
                      </a:solidFill>
                      <a:prstDash val="solid"/>
                      <a:round/>
                      <a:headEnd type="none" w="med" len="med"/>
                      <a:tailEnd type="none" w="med" len="med"/>
                    </a:lnL>
                    <a:lnR w="12700" cap="flat" cmpd="sng" algn="ctr">
                      <a:solidFill>
                        <a:srgbClr val="BCBF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FB8"/>
                      </a:solidFill>
                      <a:prstDash val="solid"/>
                      <a:round/>
                      <a:headEnd type="none" w="med" len="med"/>
                      <a:tailEnd type="none" w="med" len="med"/>
                    </a:lnB>
                    <a:solidFill>
                      <a:srgbClr val="EBEFE6"/>
                    </a:solidFill>
                  </a:tcPr>
                </a:tc>
              </a:tr>
            </a:tbl>
          </a:graphicData>
        </a:graphic>
      </p:graphicFrame>
      <p:sp>
        <p:nvSpPr>
          <p:cNvPr id="11" name="Text 7"/>
          <p:cNvSpPr/>
          <p:nvPr/>
        </p:nvSpPr>
        <p:spPr>
          <a:xfrm>
            <a:off x="812800" y="5153223"/>
            <a:ext cx="48399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25B"/>
                </a:solidFill>
                <a:latin typeface="Arial" pitchFamily="34" charset="0"/>
                <a:ea typeface="Arial" pitchFamily="34" charset="-122"/>
                <a:cs typeface="Arial" pitchFamily="34" charset="-120"/>
              </a:rPr>
              <a:t>Loaded with tfds.load('plant_village'), kept the 10 tomato classes, split each class 80/10/10 (seed 42).</a:t>
            </a:r>
            <a:endParaRPr lang="en-US" sz="1300" dirty="0"/>
          </a:p>
        </p:txBody>
      </p:sp>
      <p:sp>
        <p:nvSpPr>
          <p:cNvPr id="12" name="Shape 8"/>
          <p:cNvSpPr/>
          <p:nvPr/>
        </p:nvSpPr>
        <p:spPr>
          <a:xfrm>
            <a:off x="5921375" y="1623665"/>
            <a:ext cx="5454650" cy="3204170"/>
          </a:xfrm>
          <a:prstGeom prst="roundRect">
            <a:avLst>
              <a:gd name="adj" fmla="val 3072"/>
            </a:avLst>
          </a:prstGeom>
          <a:solidFill>
            <a:srgbClr val="FFFFFF"/>
          </a:solidFill>
          <a:ln w="6350">
            <a:solidFill>
              <a:srgbClr val="DCDFD6"/>
            </a:solidFill>
            <a:prstDash val="solid"/>
          </a:ln>
        </p:spPr>
      </p:sp>
      <p:pic>
        <p:nvPicPr>
          <p:cNvPr id="13" name="Image 1" descr="One sample leaf from each of the 10 tomato classes">    </p:cNvPr>
          <p:cNvPicPr>
            <a:picLocks noChangeAspect="1"/>
          </p:cNvPicPr>
          <p:nvPr/>
        </p:nvPicPr>
        <p:blipFill>
          <a:blip r:embed="rId2"/>
          <a:srcRect l="0" r="0" t="0" b="0"/>
          <a:stretch/>
        </p:blipFill>
        <p:spPr>
          <a:xfrm>
            <a:off x="6076950" y="1779240"/>
            <a:ext cx="5156200" cy="2578100"/>
          </a:xfrm>
          <a:prstGeom prst="rect">
            <a:avLst/>
          </a:prstGeom>
        </p:spPr>
      </p:pic>
      <p:sp>
        <p:nvSpPr>
          <p:cNvPr id="14" name="Text 9"/>
          <p:cNvSpPr/>
          <p:nvPr/>
        </p:nvSpPr>
        <p:spPr>
          <a:xfrm>
            <a:off x="6076950" y="4458940"/>
            <a:ext cx="52978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One image per class. All lab photos: one leaf, plain background</a:t>
            </a:r>
            <a:endParaRPr lang="en-US" sz="1200" dirty="0"/>
          </a:p>
        </p:txBody>
      </p:sp>
      <p:sp>
        <p:nvSpPr>
          <p:cNvPr id="15"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2 · Source: TensorFlow Datasets, plant_village v1.0.2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B23"/>
                </a:solidFill>
                <a:latin typeface="Georgia" pitchFamily="18" charset="0"/>
                <a:ea typeface="Georgia" pitchFamily="18" charset="-122"/>
                <a:cs typeface="Georgia" pitchFamily="18" charset="-120"/>
              </a:rPr>
              <a:t>EDA and preprocessing</a:t>
            </a:r>
            <a:endParaRPr lang="en-US" sz="3600" dirty="0"/>
          </a:p>
        </p:txBody>
      </p:sp>
      <p:sp>
        <p:nvSpPr>
          <p:cNvPr id="3" name="Shape 1"/>
          <p:cNvSpPr/>
          <p:nvPr/>
        </p:nvSpPr>
        <p:spPr>
          <a:xfrm>
            <a:off x="815975" y="1623665"/>
            <a:ext cx="5835650" cy="3140670"/>
          </a:xfrm>
          <a:prstGeom prst="roundRect">
            <a:avLst>
              <a:gd name="adj" fmla="val 3134"/>
            </a:avLst>
          </a:prstGeom>
          <a:solidFill>
            <a:srgbClr val="FFFFFF"/>
          </a:solidFill>
          <a:ln w="6350">
            <a:solidFill>
              <a:srgbClr val="DCDFD6"/>
            </a:solidFill>
            <a:prstDash val="solid"/>
          </a:ln>
        </p:spPr>
      </p:sp>
      <p:pic>
        <p:nvPicPr>
          <p:cNvPr id="4" name="Image 0" descr="Bar chart of training images per tomato class">    </p:cNvPr>
          <p:cNvPicPr>
            <a:picLocks noChangeAspect="1"/>
          </p:cNvPicPr>
          <p:nvPr/>
        </p:nvPicPr>
        <p:blipFill>
          <a:blip r:embed="rId1"/>
          <a:srcRect l="-46" r="-46" t="0" b="0"/>
          <a:stretch/>
        </p:blipFill>
        <p:spPr>
          <a:xfrm>
            <a:off x="971550" y="1779240"/>
            <a:ext cx="5537200" cy="2514600"/>
          </a:xfrm>
          <a:prstGeom prst="rect">
            <a:avLst/>
          </a:prstGeom>
        </p:spPr>
      </p:pic>
      <p:sp>
        <p:nvSpPr>
          <p:cNvPr id="5" name="Text 2"/>
          <p:cNvSpPr/>
          <p:nvPr/>
        </p:nvSpPr>
        <p:spPr>
          <a:xfrm>
            <a:off x="971550" y="4395440"/>
            <a:ext cx="56902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Train images per class. Yellow leaf curl has 4,285, mosaic virus only 298</a:t>
            </a:r>
            <a:endParaRPr lang="en-US" sz="1200" dirty="0"/>
          </a:p>
        </p:txBody>
      </p:sp>
      <p:sp>
        <p:nvSpPr>
          <p:cNvPr id="6" name="Shape 3"/>
          <p:cNvSpPr/>
          <p:nvPr/>
        </p:nvSpPr>
        <p:spPr>
          <a:xfrm>
            <a:off x="6959600" y="1620490"/>
            <a:ext cx="4419600" cy="1061690"/>
          </a:xfrm>
          <a:prstGeom prst="roundRect">
            <a:avLst>
              <a:gd name="adj" fmla="val 9570"/>
            </a:avLst>
          </a:prstGeom>
          <a:solidFill>
            <a:srgbClr val="F6F4EE"/>
          </a:solidFill>
          <a:ln/>
        </p:spPr>
      </p:sp>
      <p:sp>
        <p:nvSpPr>
          <p:cNvPr id="7" name="Text 4"/>
          <p:cNvSpPr/>
          <p:nvPr/>
        </p:nvSpPr>
        <p:spPr>
          <a:xfrm>
            <a:off x="7137400" y="1772890"/>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31A"/>
                </a:solidFill>
                <a:latin typeface="Arial" pitchFamily="34" charset="0"/>
                <a:ea typeface="Arial" pitchFamily="34" charset="-122"/>
                <a:cs typeface="Arial" pitchFamily="34" charset="-120"/>
              </a:rPr>
              <a:t>Classes are unbalanced (14x)</a:t>
            </a:r>
            <a:endParaRPr lang="en-US" sz="1600" dirty="0"/>
          </a:p>
        </p:txBody>
      </p:sp>
      <p:sp>
        <p:nvSpPr>
          <p:cNvPr id="8" name="Text 5"/>
          <p:cNvSpPr/>
          <p:nvPr/>
        </p:nvSpPr>
        <p:spPr>
          <a:xfrm>
            <a:off x="7137400" y="2067520"/>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B23"/>
                </a:solidFill>
                <a:latin typeface="Arial" pitchFamily="34" charset="0"/>
                <a:ea typeface="Arial" pitchFamily="34" charset="-122"/>
                <a:cs typeface="Arial" pitchFamily="34" charset="-120"/>
              </a:rPr>
              <a:t>Accuracy can look good while small classes do badly, so I also check macro-F1 and per-class recall.</a:t>
            </a:r>
            <a:endParaRPr lang="en-US" sz="1300" dirty="0"/>
          </a:p>
        </p:txBody>
      </p:sp>
      <p:sp>
        <p:nvSpPr>
          <p:cNvPr id="9" name="Shape 6"/>
          <p:cNvSpPr/>
          <p:nvPr/>
        </p:nvSpPr>
        <p:spPr>
          <a:xfrm>
            <a:off x="6959600" y="2834580"/>
            <a:ext cx="4419600" cy="1292820"/>
          </a:xfrm>
          <a:prstGeom prst="roundRect">
            <a:avLst>
              <a:gd name="adj" fmla="val 7859"/>
            </a:avLst>
          </a:prstGeom>
          <a:solidFill>
            <a:srgbClr val="F6F4EE"/>
          </a:solidFill>
          <a:ln/>
        </p:spPr>
      </p:sp>
      <p:sp>
        <p:nvSpPr>
          <p:cNvPr id="10" name="Text 7"/>
          <p:cNvSpPr/>
          <p:nvPr/>
        </p:nvSpPr>
        <p:spPr>
          <a:xfrm>
            <a:off x="7137400" y="2986980"/>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31A"/>
                </a:solidFill>
                <a:latin typeface="Arial" pitchFamily="34" charset="0"/>
                <a:ea typeface="Arial" pitchFamily="34" charset="-122"/>
                <a:cs typeface="Arial" pitchFamily="34" charset="-120"/>
              </a:rPr>
              <a:t>Data checks</a:t>
            </a:r>
            <a:endParaRPr lang="en-US" sz="1600" dirty="0"/>
          </a:p>
        </p:txBody>
      </p:sp>
      <p:sp>
        <p:nvSpPr>
          <p:cNvPr id="11" name="Text 8"/>
          <p:cNvSpPr/>
          <p:nvPr/>
        </p:nvSpPr>
        <p:spPr>
          <a:xfrm>
            <a:off x="7137400" y="3281611"/>
            <a:ext cx="418592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B23"/>
                </a:solidFill>
                <a:latin typeface="Arial" pitchFamily="34" charset="0"/>
                <a:ea typeface="Arial" pitchFamily="34" charset="-122"/>
                <a:cs typeface="Arial" pitchFamily="34" charset="-120"/>
              </a:rPr>
              <a:t>All images are 256x256, colour. Found 14 duplicate pairs (same label). 4 ended up in both train and val, none in test.</a:t>
            </a:r>
            <a:endParaRPr lang="en-US" sz="1300" dirty="0"/>
          </a:p>
        </p:txBody>
      </p:sp>
      <p:sp>
        <p:nvSpPr>
          <p:cNvPr id="12" name="Shape 9"/>
          <p:cNvSpPr/>
          <p:nvPr/>
        </p:nvSpPr>
        <p:spPr>
          <a:xfrm>
            <a:off x="6959600" y="4279801"/>
            <a:ext cx="4419600" cy="1292820"/>
          </a:xfrm>
          <a:prstGeom prst="roundRect">
            <a:avLst>
              <a:gd name="adj" fmla="val 7859"/>
            </a:avLst>
          </a:prstGeom>
          <a:solidFill>
            <a:srgbClr val="F6F4EE"/>
          </a:solidFill>
          <a:ln/>
        </p:spPr>
      </p:sp>
      <p:sp>
        <p:nvSpPr>
          <p:cNvPr id="13" name="Text 10"/>
          <p:cNvSpPr/>
          <p:nvPr/>
        </p:nvSpPr>
        <p:spPr>
          <a:xfrm>
            <a:off x="7137400" y="4432201"/>
            <a:ext cx="4185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31A"/>
                </a:solidFill>
                <a:latin typeface="Arial" pitchFamily="34" charset="0"/>
                <a:ea typeface="Arial" pitchFamily="34" charset="-122"/>
                <a:cs typeface="Arial" pitchFamily="34" charset="-120"/>
              </a:rPr>
              <a:t>Preprocessing</a:t>
            </a:r>
            <a:endParaRPr lang="en-US" sz="1600" dirty="0"/>
          </a:p>
        </p:txBody>
      </p:sp>
      <p:sp>
        <p:nvSpPr>
          <p:cNvPr id="14" name="Text 11"/>
          <p:cNvSpPr/>
          <p:nvPr/>
        </p:nvSpPr>
        <p:spPr>
          <a:xfrm>
            <a:off x="7137400" y="4726831"/>
            <a:ext cx="418592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B23"/>
                </a:solidFill>
                <a:latin typeface="Arial" pitchFamily="34" charset="0"/>
                <a:ea typeface="Arial" pitchFamily="34" charset="-122"/>
                <a:cs typeface="Arial" pitchFamily="34" charset="-120"/>
              </a:rPr>
              <a:t>Resized to 224x224, pixels scaled the way each model needs. Only train images get flipped, rotated, zoomed and contrast-changed.</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3 · Notebooks 00 and 01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B23"/>
                </a:solidFill>
                <a:latin typeface="Georgia" pitchFamily="18" charset="0"/>
                <a:ea typeface="Georgia" pitchFamily="18" charset="-122"/>
                <a:cs typeface="Georgia" pitchFamily="18" charset="-120"/>
              </a:rPr>
              <a:t>Models I trained</a:t>
            </a:r>
            <a:endParaRPr lang="en-US" sz="3600" dirty="0"/>
          </a:p>
        </p:txBody>
      </p:sp>
      <p:sp>
        <p:nvSpPr>
          <p:cNvPr id="3" name="Shape 1"/>
          <p:cNvSpPr/>
          <p:nvPr/>
        </p:nvSpPr>
        <p:spPr>
          <a:xfrm>
            <a:off x="815975" y="1623665"/>
            <a:ext cx="3380284" cy="3011041"/>
          </a:xfrm>
          <a:prstGeom prst="roundRect">
            <a:avLst>
              <a:gd name="adj" fmla="val 3269"/>
            </a:avLst>
          </a:prstGeom>
          <a:solidFill>
            <a:srgbClr val="FFFFFF"/>
          </a:solidFill>
          <a:ln w="6350">
            <a:solidFill>
              <a:srgbClr val="DCDFD6"/>
            </a:solidFill>
            <a:prstDash val="solid"/>
          </a:ln>
        </p:spPr>
      </p:sp>
      <p:sp>
        <p:nvSpPr>
          <p:cNvPr id="4" name="Text 2"/>
          <p:cNvSpPr/>
          <p:nvPr/>
        </p:nvSpPr>
        <p:spPr>
          <a:xfrm>
            <a:off x="1073150" y="188084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B23"/>
                </a:solidFill>
                <a:latin typeface="Arial" pitchFamily="34" charset="0"/>
                <a:ea typeface="Arial" pitchFamily="34" charset="-122"/>
                <a:cs typeface="Arial" pitchFamily="34" charset="-120"/>
              </a:rPr>
              <a:t>Baseline CNN</a:t>
            </a:r>
            <a:endParaRPr lang="en-US" sz="2000" dirty="0"/>
          </a:p>
        </p:txBody>
      </p:sp>
      <p:sp>
        <p:nvSpPr>
          <p:cNvPr id="5" name="Text 3"/>
          <p:cNvSpPr/>
          <p:nvPr/>
        </p:nvSpPr>
        <p:spPr>
          <a:xfrm>
            <a:off x="1073150" y="2287240"/>
            <a:ext cx="295191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25B"/>
                </a:solidFill>
                <a:latin typeface="Arial" pitchFamily="34" charset="0"/>
                <a:ea typeface="Arial" pitchFamily="34" charset="-122"/>
                <a:cs typeface="Arial" pitchFamily="34" charset="-120"/>
              </a:rPr>
              <a:t>Trained from scratch</a:t>
            </a:r>
            <a:endParaRPr lang="en-US" sz="1300" dirty="0"/>
          </a:p>
        </p:txBody>
      </p:sp>
      <p:sp>
        <p:nvSpPr>
          <p:cNvPr id="6" name="Text 4"/>
          <p:cNvSpPr/>
          <p:nvPr/>
        </p:nvSpPr>
        <p:spPr>
          <a:xfrm>
            <a:off x="1073150" y="2619970"/>
            <a:ext cx="295191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4511F"/>
                </a:solidFill>
                <a:latin typeface="Georgia" pitchFamily="18" charset="0"/>
                <a:ea typeface="Georgia" pitchFamily="18" charset="-122"/>
                <a:cs typeface="Georgia" pitchFamily="18" charset="-120"/>
              </a:rPr>
              <a:t>23.9M</a:t>
            </a:r>
            <a:endParaRPr lang="en-US" sz="3200" dirty="0"/>
          </a:p>
        </p:txBody>
      </p:sp>
      <p:sp>
        <p:nvSpPr>
          <p:cNvPr id="7" name="Text 5"/>
          <p:cNvSpPr/>
          <p:nvPr/>
        </p:nvSpPr>
        <p:spPr>
          <a:xfrm>
            <a:off x="1073150" y="316860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trainable parameters</a:t>
            </a:r>
            <a:endParaRPr lang="en-US" sz="1200" dirty="0"/>
          </a:p>
        </p:txBody>
      </p:sp>
      <p:sp>
        <p:nvSpPr>
          <p:cNvPr id="8" name="Text 6"/>
          <p:cNvSpPr/>
          <p:nvPr/>
        </p:nvSpPr>
        <p:spPr>
          <a:xfrm>
            <a:off x="1171194" y="3483521"/>
            <a:ext cx="2846248" cy="71879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2 conv layers, Flatten, Dense</a:t>
            </a:r>
            <a:endParaRPr lang="en-US" sz="1300" dirty="0"/>
          </a:p>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No augmentation on purpose</a:t>
            </a:r>
            <a:endParaRPr lang="en-US" sz="1300" dirty="0"/>
          </a:p>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Used as the starting point</a:t>
            </a:r>
            <a:endParaRPr lang="en-US" sz="1300" dirty="0"/>
          </a:p>
        </p:txBody>
      </p:sp>
      <p:sp>
        <p:nvSpPr>
          <p:cNvPr id="9" name="Shape 7"/>
          <p:cNvSpPr/>
          <p:nvPr/>
        </p:nvSpPr>
        <p:spPr>
          <a:xfrm>
            <a:off x="4402634" y="1620490"/>
            <a:ext cx="3386683" cy="3017391"/>
          </a:xfrm>
          <a:prstGeom prst="roundRect">
            <a:avLst>
              <a:gd name="adj" fmla="val 3367"/>
            </a:avLst>
          </a:prstGeom>
          <a:solidFill>
            <a:srgbClr val="1D2B23"/>
          </a:solidFill>
          <a:ln/>
        </p:spPr>
      </p:sp>
      <p:sp>
        <p:nvSpPr>
          <p:cNvPr id="10" name="Text 8"/>
          <p:cNvSpPr/>
          <p:nvPr/>
        </p:nvSpPr>
        <p:spPr>
          <a:xfrm>
            <a:off x="4656634" y="187449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E"/>
                </a:solidFill>
                <a:latin typeface="Arial" pitchFamily="34" charset="0"/>
                <a:ea typeface="Arial" pitchFamily="34" charset="-122"/>
                <a:cs typeface="Arial" pitchFamily="34" charset="-120"/>
              </a:rPr>
              <a:t>MobileNetV2</a:t>
            </a:r>
            <a:endParaRPr lang="en-US" sz="2000" dirty="0"/>
          </a:p>
        </p:txBody>
      </p:sp>
      <p:sp>
        <p:nvSpPr>
          <p:cNvPr id="11" name="Text 9"/>
          <p:cNvSpPr/>
          <p:nvPr/>
        </p:nvSpPr>
        <p:spPr>
          <a:xfrm>
            <a:off x="4656634" y="2280890"/>
            <a:ext cx="296504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ED8"/>
                </a:solidFill>
                <a:latin typeface="Arial" pitchFamily="34" charset="0"/>
                <a:ea typeface="Arial" pitchFamily="34" charset="-122"/>
                <a:cs typeface="Arial" pitchFamily="34" charset="-120"/>
              </a:rPr>
              <a:t>ImageNet weights, 8.7 MB</a:t>
            </a:r>
            <a:endParaRPr lang="en-US" sz="1300" dirty="0"/>
          </a:p>
        </p:txBody>
      </p:sp>
      <p:sp>
        <p:nvSpPr>
          <p:cNvPr id="12" name="Text 10"/>
          <p:cNvSpPr/>
          <p:nvPr/>
        </p:nvSpPr>
        <p:spPr>
          <a:xfrm>
            <a:off x="4656634" y="2613620"/>
            <a:ext cx="296504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08A5D"/>
                </a:solidFill>
                <a:latin typeface="Georgia" pitchFamily="18" charset="0"/>
                <a:ea typeface="Georgia" pitchFamily="18" charset="-122"/>
                <a:cs typeface="Georgia" pitchFamily="18" charset="-120"/>
              </a:rPr>
              <a:t>1.85M</a:t>
            </a:r>
            <a:endParaRPr lang="en-US" sz="3200" dirty="0"/>
          </a:p>
        </p:txBody>
      </p:sp>
      <p:sp>
        <p:nvSpPr>
          <p:cNvPr id="13" name="Text 11"/>
          <p:cNvSpPr/>
          <p:nvPr/>
        </p:nvSpPr>
        <p:spPr>
          <a:xfrm>
            <a:off x="4656634" y="3162250"/>
            <a:ext cx="29650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ED8"/>
                </a:solidFill>
                <a:latin typeface="Arial" pitchFamily="34" charset="0"/>
                <a:ea typeface="Arial" pitchFamily="34" charset="-122"/>
                <a:cs typeface="Arial" pitchFamily="34" charset="-120"/>
              </a:rPr>
              <a:t>trainable when fine-tuned (12.8K when frozen)</a:t>
            </a:r>
            <a:endParaRPr lang="en-US" sz="1200" dirty="0"/>
          </a:p>
        </p:txBody>
      </p:sp>
      <p:sp>
        <p:nvSpPr>
          <p:cNvPr id="14" name="Text 12"/>
          <p:cNvSpPr/>
          <p:nvPr/>
        </p:nvSpPr>
        <p:spPr>
          <a:xfrm>
            <a:off x="4754678" y="3690491"/>
            <a:ext cx="2859380" cy="71879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Stage 1: base frozen</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Then unfroze layers 100 to 153</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BatchNorm kept frozen</a:t>
            </a:r>
            <a:endParaRPr lang="en-US" sz="1300" dirty="0"/>
          </a:p>
        </p:txBody>
      </p:sp>
      <p:sp>
        <p:nvSpPr>
          <p:cNvPr id="15" name="Shape 13"/>
          <p:cNvSpPr/>
          <p:nvPr/>
        </p:nvSpPr>
        <p:spPr>
          <a:xfrm>
            <a:off x="7995692" y="1623665"/>
            <a:ext cx="3380284" cy="3011041"/>
          </a:xfrm>
          <a:prstGeom prst="roundRect">
            <a:avLst>
              <a:gd name="adj" fmla="val 3269"/>
            </a:avLst>
          </a:prstGeom>
          <a:solidFill>
            <a:srgbClr val="FFFFFF"/>
          </a:solidFill>
          <a:ln w="6350">
            <a:solidFill>
              <a:srgbClr val="DCDFD6"/>
            </a:solidFill>
            <a:prstDash val="solid"/>
          </a:ln>
        </p:spPr>
      </p:sp>
      <p:sp>
        <p:nvSpPr>
          <p:cNvPr id="16" name="Text 14"/>
          <p:cNvSpPr/>
          <p:nvPr/>
        </p:nvSpPr>
        <p:spPr>
          <a:xfrm>
            <a:off x="8252867" y="188084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B23"/>
                </a:solidFill>
                <a:latin typeface="Arial" pitchFamily="34" charset="0"/>
                <a:ea typeface="Arial" pitchFamily="34" charset="-122"/>
                <a:cs typeface="Arial" pitchFamily="34" charset="-120"/>
              </a:rPr>
              <a:t>ResNet50</a:t>
            </a:r>
            <a:endParaRPr lang="en-US" sz="2000" dirty="0"/>
          </a:p>
        </p:txBody>
      </p:sp>
      <p:sp>
        <p:nvSpPr>
          <p:cNvPr id="17" name="Text 15"/>
          <p:cNvSpPr/>
          <p:nvPr/>
        </p:nvSpPr>
        <p:spPr>
          <a:xfrm>
            <a:off x="8252867" y="2287240"/>
            <a:ext cx="295191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25B"/>
                </a:solidFill>
                <a:latin typeface="Arial" pitchFamily="34" charset="0"/>
                <a:ea typeface="Arial" pitchFamily="34" charset="-122"/>
                <a:cs typeface="Arial" pitchFamily="34" charset="-120"/>
              </a:rPr>
              <a:t>ImageNet weights, 90 MB</a:t>
            </a:r>
            <a:endParaRPr lang="en-US" sz="1300" dirty="0"/>
          </a:p>
        </p:txBody>
      </p:sp>
      <p:sp>
        <p:nvSpPr>
          <p:cNvPr id="18" name="Text 16"/>
          <p:cNvSpPr/>
          <p:nvPr/>
        </p:nvSpPr>
        <p:spPr>
          <a:xfrm>
            <a:off x="8252867" y="2619970"/>
            <a:ext cx="295191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4511F"/>
                </a:solidFill>
                <a:latin typeface="Georgia" pitchFamily="18" charset="0"/>
                <a:ea typeface="Georgia" pitchFamily="18" charset="-122"/>
                <a:cs typeface="Georgia" pitchFamily="18" charset="-120"/>
              </a:rPr>
              <a:t>20.5K</a:t>
            </a:r>
            <a:endParaRPr lang="en-US" sz="3200" dirty="0"/>
          </a:p>
        </p:txBody>
      </p:sp>
      <p:sp>
        <p:nvSpPr>
          <p:cNvPr id="19" name="Text 17"/>
          <p:cNvSpPr/>
          <p:nvPr/>
        </p:nvSpPr>
        <p:spPr>
          <a:xfrm>
            <a:off x="8252867" y="316860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trainable parameters</a:t>
            </a:r>
            <a:endParaRPr lang="en-US" sz="1200" dirty="0"/>
          </a:p>
        </p:txBody>
      </p:sp>
      <p:sp>
        <p:nvSpPr>
          <p:cNvPr id="20" name="Text 18"/>
          <p:cNvSpPr/>
          <p:nvPr/>
        </p:nvSpPr>
        <p:spPr>
          <a:xfrm>
            <a:off x="8350911" y="3483521"/>
            <a:ext cx="2846248" cy="71879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Only the last layer trained</a:t>
            </a:r>
            <a:endParaRPr lang="en-US" sz="1300" dirty="0"/>
          </a:p>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Needs its own pixel prep</a:t>
            </a:r>
            <a:endParaRPr lang="en-US" sz="1300" dirty="0"/>
          </a:p>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Not fine-tuned</a:t>
            </a:r>
            <a:endParaRPr lang="en-US" sz="1300" dirty="0"/>
          </a:p>
        </p:txBody>
      </p:sp>
      <p:sp>
        <p:nvSpPr>
          <p:cNvPr id="21" name="Text 19"/>
          <p:cNvSpPr/>
          <p:nvPr/>
        </p:nvSpPr>
        <p:spPr>
          <a:xfrm>
            <a:off x="812800" y="4942681"/>
            <a:ext cx="10566400" cy="767060"/>
          </a:xfrm>
          <a:prstGeom prst="roundRect">
            <a:avLst>
              <a:gd name="adj" fmla="val 13245"/>
            </a:avLst>
          </a:prstGeom>
          <a:solidFill>
            <a:srgbClr val="EBEFE6"/>
          </a:solidFill>
          <a:ln/>
        </p:spPr>
        <p:txBody>
          <a:bodyPr wrap="square" lIns="148042" tIns="122642" rIns="0" bIns="97242" rtlCol="0" anchor="t">
            <a:normAutofit/>
          </a:bodyPr>
          <a:lstStyle/>
          <a:p>
            <a:pPr algn="l" indent="0" marL="0">
              <a:lnSpc>
                <a:spcPts val="1820"/>
              </a:lnSpc>
              <a:buNone/>
            </a:pPr>
            <a:r>
              <a:rPr lang="en-US" sz="1300" dirty="0">
                <a:solidFill>
                  <a:srgbClr val="1D2B23"/>
                </a:solidFill>
                <a:latin typeface="Arial" pitchFamily="34" charset="0"/>
                <a:ea typeface="Arial" pitchFamily="34" charset="-122"/>
                <a:cs typeface="Arial" pitchFamily="34" charset="-120"/>
              </a:rPr>
              <a:t>Both transfer models end the same way: average pooling, dropout 0.2, then 10 outputs. Everything uses 224x224 images, batch 32, Adam and seed 42.</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4 · Notebooks 02 and 03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B23"/>
                </a:solidFill>
                <a:latin typeface="Georgia" pitchFamily="18" charset="0"/>
                <a:ea typeface="Georgia" pitchFamily="18" charset="-122"/>
                <a:cs typeface="Georgia" pitchFamily="18" charset="-120"/>
              </a:rPr>
              <a:t>What I tried and what I kept</a:t>
            </a:r>
            <a:endParaRPr lang="en-US" sz="3600" dirty="0"/>
          </a:p>
        </p:txBody>
      </p:sp>
      <p:sp>
        <p:nvSpPr>
          <p:cNvPr id="3" name="Shape 1"/>
          <p:cNvSpPr/>
          <p:nvPr/>
        </p:nvSpPr>
        <p:spPr>
          <a:xfrm>
            <a:off x="812800" y="1620490"/>
            <a:ext cx="10566400" cy="2527945"/>
          </a:xfrm>
          <a:prstGeom prst="rect">
            <a:avLst/>
          </a:prstGeom>
          <a:solidFill>
            <a:srgbClr val="F6F4EE"/>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2515245"/>
        </p:xfrm>
        <a:graphic>
          <a:graphicData uri="http://schemas.openxmlformats.org/drawingml/2006/table">
            <a:tbl>
              <a:tblPr/>
              <a:tblGrid>
                <a:gridCol w="4010406"/>
                <a:gridCol w="3799332"/>
                <a:gridCol w="2743962"/>
              </a:tblGrid>
              <a:tr h="359321">
                <a:tc>
                  <a:txBody>
                    <a:bodyPr/>
                    <a:lstStyle/>
                    <a:p>
                      <a:pPr indent="0" marL="0">
                        <a:lnSpc>
                          <a:spcPts val="1820"/>
                        </a:lnSpc>
                        <a:buNone/>
                      </a:pPr>
                      <a:r>
                        <a:rPr lang="en-US" sz="1300" b="1" dirty="0">
                          <a:solidFill>
                            <a:srgbClr val="1D2B23"/>
                          </a:solidFill>
                          <a:latin typeface="Arial" pitchFamily="34" charset="0"/>
                          <a:ea typeface="Arial" pitchFamily="34" charset="-122"/>
                          <a:cs typeface="Arial" pitchFamily="34" charset="-120"/>
                        </a:rPr>
                        <a:t>What I tried</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D2B23"/>
                          </a:solidFill>
                          <a:latin typeface="Arial" pitchFamily="34" charset="0"/>
                          <a:ea typeface="Arial" pitchFamily="34" charset="-122"/>
                          <a:cs typeface="Arial" pitchFamily="34" charset="-120"/>
                        </a:rPr>
                        <a:t>Val result</a:t>
                      </a:r>
                      <a:endParaRPr lang="en-US" sz="1300" dirty="0">
                        <a:latin typeface="Arial" charset="0"/>
                        <a:ea typeface="Arial" charset="0"/>
                        <a:cs typeface="Arial"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1820"/>
                        </a:lnSpc>
                        <a:buNone/>
                      </a:pPr>
                      <a:r>
                        <a:rPr lang="en-US" sz="1300" b="1" dirty="0">
                          <a:solidFill>
                            <a:srgbClr val="1D2B23"/>
                          </a:solidFill>
                          <a:latin typeface="Arial" pitchFamily="34" charset="0"/>
                          <a:ea typeface="Arial" pitchFamily="34" charset="-122"/>
                          <a:cs typeface="Arial" pitchFamily="34" charset="-120"/>
                        </a:rPr>
                        <a:t>So I</a:t>
                      </a:r>
                      <a:endParaRPr lang="en-US" sz="1300" dirty="0">
                        <a:latin typeface="Arial" charset="0"/>
                        <a:ea typeface="Arial" charset="0"/>
                        <a:cs typeface="Arial"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Baseline at LR 0.001</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Loss exploded, over 300</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used LR 0.0001</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No fixed seed, two runs</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72% on one, 82% on the other</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fixed seed 42</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Added EarlyStopping, ReduceLROnPlateau</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88.5% went up to 90.2%</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used them everywhere</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BatchNorm unfrozen in fine-tuning</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Train accuracy dropped to 75%</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froze BatchNorm</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Augmentation, MobileNetV2 fine-tuned</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Same 96.5%, less overfitting</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kept it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Augmentation, ResNet50 frozen</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Dropped from 98.0% to 95.5%</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kept it, noted the drop</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4453235"/>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25B"/>
                </a:solidFill>
                <a:latin typeface="Arial" pitchFamily="34" charset="0"/>
                <a:ea typeface="Arial" pitchFamily="34" charset="-122"/>
                <a:cs typeface="Arial" pitchFamily="34" charset="-120"/>
              </a:rPr>
              <a:t>Batch 32, Adam and 224x224 stayed the same throughout. One catch: the runs with and without augmentation also differ in callbacks, so the gaps aren't from augmentation alone. All 11 runs are in notebook 03.</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5 · Experiment log, notebook 03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B23"/>
                </a:solidFill>
                <a:latin typeface="Georgia" pitchFamily="18" charset="0"/>
                <a:ea typeface="Georgia" pitchFamily="18" charset="-122"/>
                <a:cs typeface="Georgia" pitchFamily="18" charset="-120"/>
              </a:rPr>
              <a:t>Test results and where it goes wrong</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5930900" cy="2027734"/>
        </p:xfrm>
        <a:graphic>
          <a:graphicData uri="http://schemas.openxmlformats.org/drawingml/2006/table">
            <a:tbl>
              <a:tblPr/>
              <a:tblGrid>
                <a:gridCol w="2372360"/>
                <a:gridCol w="889635"/>
                <a:gridCol w="889635"/>
                <a:gridCol w="889635"/>
                <a:gridCol w="889635"/>
              </a:tblGrid>
              <a:tr h="590451">
                <a:tc>
                  <a:txBody>
                    <a:bodyPr/>
                    <a:lstStyle/>
                    <a:p>
                      <a:pPr indent="0" marL="0">
                        <a:lnSpc>
                          <a:spcPts val="1820"/>
                        </a:lnSpc>
                        <a:buNone/>
                      </a:pPr>
                      <a:r>
                        <a:rPr lang="en-US" sz="1300" b="1" dirty="0">
                          <a:solidFill>
                            <a:srgbClr val="1D2B23"/>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820"/>
                        </a:lnSpc>
                        <a:buNone/>
                      </a:pPr>
                      <a:r>
                        <a:rPr lang="en-US" sz="1300" b="1" dirty="0">
                          <a:solidFill>
                            <a:srgbClr val="1D2B23"/>
                          </a:solidFill>
                          <a:latin typeface="Arial" pitchFamily="34" charset="0"/>
                          <a:ea typeface="Arial" pitchFamily="34" charset="-122"/>
                          <a:cs typeface="Arial" pitchFamily="34" charset="-120"/>
                        </a:rPr>
                        <a:t>Accuracy</a:t>
                      </a:r>
                      <a:endParaRPr lang="en-US" sz="1300" dirty="0">
                        <a:latin typeface="Arial" charset="0"/>
                        <a:ea typeface="Arial" charset="0"/>
                        <a:cs typeface="Arial"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820"/>
                        </a:lnSpc>
                        <a:buNone/>
                      </a:pPr>
                      <a:r>
                        <a:rPr lang="en-US" sz="1300" b="1" dirty="0">
                          <a:solidFill>
                            <a:srgbClr val="1D2B23"/>
                          </a:solidFill>
                          <a:latin typeface="Arial" pitchFamily="34" charset="0"/>
                          <a:ea typeface="Arial" pitchFamily="34" charset="-122"/>
                          <a:cs typeface="Arial" pitchFamily="34" charset="-120"/>
                        </a:rPr>
                        <a:t>Macro-F1</a:t>
                      </a:r>
                      <a:endParaRPr lang="en-US" sz="1300" dirty="0">
                        <a:latin typeface="Arial" charset="0"/>
                        <a:ea typeface="Arial" charset="0"/>
                        <a:cs typeface="Arial"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820"/>
                        </a:lnSpc>
                        <a:buNone/>
                      </a:pPr>
                      <a:r>
                        <a:rPr lang="en-US" sz="1300" b="1" dirty="0">
                          <a:solidFill>
                            <a:srgbClr val="1D2B23"/>
                          </a:solidFill>
                          <a:latin typeface="Arial" pitchFamily="34" charset="0"/>
                          <a:ea typeface="Arial" pitchFamily="34" charset="-122"/>
                          <a:cs typeface="Arial" pitchFamily="34" charset="-120"/>
                        </a:rPr>
                        <a:t>Top-3</a:t>
                      </a:r>
                      <a:endParaRPr lang="en-US" sz="1300" dirty="0">
                        <a:latin typeface="Arial" charset="0"/>
                        <a:ea typeface="Arial" charset="0"/>
                        <a:cs typeface="Arial"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algn="r" indent="0" marL="0">
                        <a:lnSpc>
                          <a:spcPts val="1820"/>
                        </a:lnSpc>
                        <a:buNone/>
                      </a:pPr>
                      <a:r>
                        <a:rPr lang="en-US" sz="1300" b="1" dirty="0">
                          <a:solidFill>
                            <a:srgbClr val="1D2B23"/>
                          </a:solidFill>
                          <a:latin typeface="Arial" pitchFamily="34" charset="0"/>
                          <a:ea typeface="Arial" pitchFamily="34" charset="-122"/>
                          <a:cs typeface="Arial" pitchFamily="34" charset="-120"/>
                        </a:rPr>
                        <a:t>ms/image</a:t>
                      </a:r>
                      <a:endParaRPr lang="en-US" sz="1300" dirty="0">
                        <a:latin typeface="Arial" charset="0"/>
                        <a:ea typeface="Arial" charset="0"/>
                        <a:cs typeface="Arial" charset="0"/>
                      </a:endParaRPr>
                    </a:p>
                  </a:txBody>
                  <a:tcPr marL="57785" marR="57785" marT="57785" marB="57785"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Baseline CNN</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90.2%</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0.867</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98.5%</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23.8</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MobileNetV2 frozen</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91.5%</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0.882</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99.0%</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36.9</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MobileNetV2 fine-tuned</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2AEA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2AEA3"/>
                      </a:solidFill>
                      <a:prstDash val="solid"/>
                      <a:round/>
                      <a:headEnd type="none" w="med" len="med"/>
                      <a:tailEnd type="none" w="med" len="med"/>
                    </a:lnB>
                    <a:solidFill>
                      <a:srgbClr val="F3D9CC"/>
                    </a:solidFill>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96.8%</a:t>
                      </a:r>
                      <a:endParaRPr lang="en-US" sz="1300" dirty="0">
                        <a:latin typeface="Arial" charset="0"/>
                        <a:ea typeface="Arial" charset="0"/>
                        <a:cs typeface="Arial" charset="0"/>
                      </a:endParaRPr>
                    </a:p>
                  </a:txBody>
                  <a:tcPr marL="57785" marR="57785" marT="57785" marB="57785" anchor="t">
                    <a:lnL w="12700" cap="flat" cmpd="sng" algn="ctr">
                      <a:solidFill>
                        <a:srgbClr val="C2AEA3"/>
                      </a:solidFill>
                      <a:prstDash val="solid"/>
                      <a:round/>
                      <a:headEnd type="none" w="med" len="med"/>
                      <a:tailEnd type="none" w="med" len="med"/>
                    </a:lnL>
                    <a:lnR w="12700" cap="flat" cmpd="sng" algn="ctr">
                      <a:solidFill>
                        <a:srgbClr val="C2AEA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2AEA3"/>
                      </a:solidFill>
                      <a:prstDash val="solid"/>
                      <a:round/>
                      <a:headEnd type="none" w="med" len="med"/>
                      <a:tailEnd type="none" w="med" len="med"/>
                    </a:lnB>
                    <a:solidFill>
                      <a:srgbClr val="F3D9CC"/>
                    </a:solidFill>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0.952</a:t>
                      </a:r>
                      <a:endParaRPr lang="en-US" sz="1300" dirty="0">
                        <a:latin typeface="Arial" charset="0"/>
                        <a:ea typeface="Arial" charset="0"/>
                        <a:cs typeface="Arial" charset="0"/>
                      </a:endParaRPr>
                    </a:p>
                  </a:txBody>
                  <a:tcPr marL="57785" marR="57785" marT="57785" marB="57785" anchor="t">
                    <a:lnL w="12700" cap="flat" cmpd="sng" algn="ctr">
                      <a:solidFill>
                        <a:srgbClr val="C2AEA3"/>
                      </a:solidFill>
                      <a:prstDash val="solid"/>
                      <a:round/>
                      <a:headEnd type="none" w="med" len="med"/>
                      <a:tailEnd type="none" w="med" len="med"/>
                    </a:lnL>
                    <a:lnR w="12700" cap="flat" cmpd="sng" algn="ctr">
                      <a:solidFill>
                        <a:srgbClr val="C2AEA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2AEA3"/>
                      </a:solidFill>
                      <a:prstDash val="solid"/>
                      <a:round/>
                      <a:headEnd type="none" w="med" len="med"/>
                      <a:tailEnd type="none" w="med" len="med"/>
                    </a:lnB>
                    <a:solidFill>
                      <a:srgbClr val="F3D9CC"/>
                    </a:solidFill>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99.7%</a:t>
                      </a:r>
                      <a:endParaRPr lang="en-US" sz="1300" dirty="0">
                        <a:latin typeface="Arial" charset="0"/>
                        <a:ea typeface="Arial" charset="0"/>
                        <a:cs typeface="Arial" charset="0"/>
                      </a:endParaRPr>
                    </a:p>
                  </a:txBody>
                  <a:tcPr marL="57785" marR="57785" marT="57785" marB="57785" anchor="t">
                    <a:lnL w="12700" cap="flat" cmpd="sng" algn="ctr">
                      <a:solidFill>
                        <a:srgbClr val="C2AEA3"/>
                      </a:solidFill>
                      <a:prstDash val="solid"/>
                      <a:round/>
                      <a:headEnd type="none" w="med" len="med"/>
                      <a:tailEnd type="none" w="med" len="med"/>
                    </a:lnL>
                    <a:lnR w="12700" cap="flat" cmpd="sng" algn="ctr">
                      <a:solidFill>
                        <a:srgbClr val="C2AEA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2AEA3"/>
                      </a:solidFill>
                      <a:prstDash val="solid"/>
                      <a:round/>
                      <a:headEnd type="none" w="med" len="med"/>
                      <a:tailEnd type="none" w="med" len="med"/>
                    </a:lnB>
                    <a:solidFill>
                      <a:srgbClr val="F3D9CC"/>
                    </a:solidFill>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36.6</a:t>
                      </a:r>
                      <a:endParaRPr lang="en-US" sz="1300" dirty="0">
                        <a:latin typeface="Arial" charset="0"/>
                        <a:ea typeface="Arial" charset="0"/>
                        <a:cs typeface="Arial" charset="0"/>
                      </a:endParaRPr>
                    </a:p>
                  </a:txBody>
                  <a:tcPr marL="57785" marR="57785" marT="57785" marB="57785" anchor="t">
                    <a:lnL w="12700" cap="flat" cmpd="sng" algn="ctr">
                      <a:solidFill>
                        <a:srgbClr val="C2AEA3"/>
                      </a:solidFill>
                      <a:prstDash val="solid"/>
                      <a:round/>
                      <a:headEnd type="none" w="med" len="med"/>
                      <a:tailEnd type="none" w="med" len="med"/>
                    </a:lnL>
                    <a:lnR w="12700" cap="flat" cmpd="sng" algn="ctr">
                      <a:solidFill>
                        <a:srgbClr val="C2AEA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2AEA3"/>
                      </a:solidFill>
                      <a:prstDash val="solid"/>
                      <a:round/>
                      <a:headEnd type="none" w="med" len="med"/>
                      <a:tailEnd type="none" w="med" len="med"/>
                    </a:lnB>
                    <a:solidFill>
                      <a:srgbClr val="F3D9CC"/>
                    </a:solidFill>
                  </a:tcPr>
                </a:tc>
              </a:tr>
              <a:tr h="359321">
                <a:tc>
                  <a:txBody>
                    <a:bodyPr/>
                    <a:lstStyle/>
                    <a:p>
                      <a:pPr indent="0" marL="0">
                        <a:lnSpc>
                          <a:spcPts val="1820"/>
                        </a:lnSpc>
                        <a:buNone/>
                      </a:pPr>
                      <a:r>
                        <a:rPr lang="en-US" sz="1300" dirty="0">
                          <a:solidFill>
                            <a:srgbClr val="1D2B23"/>
                          </a:solidFill>
                          <a:latin typeface="Arial" pitchFamily="34" charset="0"/>
                          <a:ea typeface="Arial" pitchFamily="34" charset="-122"/>
                          <a:cs typeface="Arial" pitchFamily="34" charset="-120"/>
                        </a:rPr>
                        <a:t>ResNet50 frozen</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2AEA3"/>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96.7%</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2AEA3"/>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0.958</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2AEA3"/>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99.7%</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2AEA3"/>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D2B23"/>
                          </a:solidFill>
                          <a:latin typeface="Arial" pitchFamily="34" charset="0"/>
                          <a:ea typeface="Arial" pitchFamily="34" charset="-122"/>
                          <a:cs typeface="Arial" pitchFamily="34" charset="-120"/>
                        </a:rPr>
                        <a:t>36.2</a:t>
                      </a:r>
                      <a:endParaRPr lang="en-US" sz="1300" dirty="0">
                        <a:latin typeface="Arial" charset="0"/>
                        <a:ea typeface="Arial" charset="0"/>
                        <a:cs typeface="Arial"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2AEA3"/>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4" name="Shape 1"/>
          <p:cNvSpPr/>
          <p:nvPr/>
        </p:nvSpPr>
        <p:spPr>
          <a:xfrm>
            <a:off x="812800" y="3864124"/>
            <a:ext cx="5943600" cy="1369020"/>
          </a:xfrm>
          <a:prstGeom prst="roundRect">
            <a:avLst>
              <a:gd name="adj" fmla="val 7421"/>
            </a:avLst>
          </a:prstGeom>
          <a:solidFill>
            <a:srgbClr val="EBEFE6"/>
          </a:solidFill>
          <a:ln/>
        </p:spPr>
      </p:sp>
      <p:sp>
        <p:nvSpPr>
          <p:cNvPr id="5" name="Text 2"/>
          <p:cNvSpPr/>
          <p:nvPr/>
        </p:nvSpPr>
        <p:spPr>
          <a:xfrm>
            <a:off x="1016000" y="4041924"/>
            <a:ext cx="57033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31A"/>
                </a:solidFill>
                <a:latin typeface="Arial" pitchFamily="34" charset="0"/>
                <a:ea typeface="Arial" pitchFamily="34" charset="-122"/>
                <a:cs typeface="Arial" pitchFamily="34" charset="-120"/>
              </a:rPr>
              <a:t>Where MobileNetV2 fine-tuned gets it wrong</a:t>
            </a:r>
            <a:endParaRPr lang="en-US" sz="1600" dirty="0"/>
          </a:p>
        </p:txBody>
      </p:sp>
      <p:sp>
        <p:nvSpPr>
          <p:cNvPr id="6" name="Text 3"/>
          <p:cNvSpPr/>
          <p:nvPr/>
        </p:nvSpPr>
        <p:spPr>
          <a:xfrm>
            <a:off x="1114044" y="4361954"/>
            <a:ext cx="5597652" cy="71879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Early blight: only 78 of 100 found, 9 of the misses called Target spot</a:t>
            </a:r>
            <a:endParaRPr lang="en-US" sz="1300" dirty="0"/>
          </a:p>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Called 7 of 1,665 sick leaves healthy (ResNet50 did this 13 times)</a:t>
            </a:r>
            <a:endParaRPr lang="en-US" sz="1300" dirty="0"/>
          </a:p>
          <a:p>
            <a:pPr algn="l" marL="155956" indent="-155956">
              <a:lnSpc>
                <a:spcPts val="1820"/>
              </a:lnSpc>
              <a:buSzPct val="100000"/>
              <a:buChar char="•"/>
            </a:pPr>
            <a:r>
              <a:rPr lang="en-US" sz="1300" dirty="0">
                <a:solidFill>
                  <a:srgbClr val="1D2B23"/>
                </a:solidFill>
                <a:latin typeface="Arial" pitchFamily="34" charset="0"/>
                <a:ea typeface="Arial" pitchFamily="34" charset="-122"/>
                <a:cs typeface="Arial" pitchFamily="34" charset="-120"/>
              </a:rPr>
              <a:t>Test and val scores are within about 1 point for every model</a:t>
            </a:r>
            <a:endParaRPr lang="en-US" sz="1300" dirty="0"/>
          </a:p>
        </p:txBody>
      </p:sp>
      <p:sp>
        <p:nvSpPr>
          <p:cNvPr id="7" name="Shape 4"/>
          <p:cNvSpPr/>
          <p:nvPr/>
        </p:nvSpPr>
        <p:spPr>
          <a:xfrm>
            <a:off x="7064375" y="1623665"/>
            <a:ext cx="4311650" cy="3917950"/>
          </a:xfrm>
          <a:prstGeom prst="roundRect">
            <a:avLst>
              <a:gd name="adj" fmla="val 2512"/>
            </a:avLst>
          </a:prstGeom>
          <a:solidFill>
            <a:srgbClr val="FFFFFF"/>
          </a:solidFill>
          <a:ln w="6350">
            <a:solidFill>
              <a:srgbClr val="DCDFD6"/>
            </a:solidFill>
            <a:prstDash val="solid"/>
          </a:ln>
        </p:spPr>
      </p:sp>
      <p:pic>
        <p:nvPicPr>
          <p:cNvPr id="8" name="Image 0" descr="Confusion matrix of MobileNetV2 fine-tuned on the test set">    </p:cNvPr>
          <p:cNvPicPr>
            <a:picLocks noChangeAspect="1"/>
          </p:cNvPicPr>
          <p:nvPr/>
        </p:nvPicPr>
        <p:blipFill>
          <a:blip r:embed="rId1"/>
          <a:srcRect l="0" r="0" t="0" b="0"/>
          <a:stretch/>
        </p:blipFill>
        <p:spPr>
          <a:xfrm>
            <a:off x="7194550" y="1753840"/>
            <a:ext cx="4064000" cy="3657600"/>
          </a:xfrm>
          <a:prstGeom prst="rect">
            <a:avLst/>
          </a:prstGeom>
        </p:spPr>
      </p:pic>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6 · Test set: 1,825 images, not used for training or for picking models · Notebook 04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EFE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B23"/>
                </a:solidFill>
                <a:latin typeface="Georgia" pitchFamily="18" charset="0"/>
                <a:ea typeface="Georgia" pitchFamily="18" charset="-122"/>
                <a:cs typeface="Georgia" pitchFamily="18" charset="-120"/>
              </a:rPr>
              <a:t>The app and how it predicts</a:t>
            </a:r>
            <a:endParaRPr lang="en-US" sz="3600" dirty="0"/>
          </a:p>
        </p:txBody>
      </p:sp>
      <p:sp>
        <p:nvSpPr>
          <p:cNvPr id="3" name="Text 1"/>
          <p:cNvSpPr/>
          <p:nvPr/>
        </p:nvSpPr>
        <p:spPr>
          <a:xfrm>
            <a:off x="812800" y="1569690"/>
            <a:ext cx="1747490" cy="683220"/>
          </a:xfrm>
          <a:prstGeom prst="roundRect">
            <a:avLst>
              <a:gd name="adj" fmla="val 14871"/>
            </a:avLst>
          </a:prstGeom>
          <a:solidFill>
            <a:srgbClr val="F6F4EE"/>
          </a:solidFill>
          <a:ln/>
        </p:spPr>
        <p:txBody>
          <a:bodyPr wrap="square" lIns="122642" tIns="97242" rIns="71842" bIns="71842" rtlCol="0" anchor="t">
            <a:normAutofit/>
          </a:bodyPr>
          <a:lstStyle/>
          <a:p>
            <a:pPr algn="l" indent="0" marL="0">
              <a:lnSpc>
                <a:spcPts val="1690"/>
              </a:lnSpc>
              <a:buNone/>
            </a:pPr>
            <a:r>
              <a:rPr lang="en-US" sz="1300" dirty="0">
                <a:solidFill>
                  <a:srgbClr val="1D2B23"/>
                </a:solidFill>
                <a:latin typeface="Arial" pitchFamily="34" charset="0"/>
                <a:ea typeface="Arial" pitchFamily="34" charset="-122"/>
                <a:cs typeface="Arial" pitchFamily="34" charset="-120"/>
              </a:rPr>
              <a:t>Upload a photo or pick a sample</a:t>
            </a:r>
            <a:endParaRPr lang="en-US" sz="1300" dirty="0"/>
          </a:p>
        </p:txBody>
      </p:sp>
      <p:pic>
        <p:nvPicPr>
          <p:cNvPr id="4" name="Image 0" descr="arrow-right">    </p:cNvPr>
          <p:cNvPicPr>
            <a:picLocks noChangeAspect="1"/>
          </p:cNvPicPr>
          <p:nvPr/>
        </p:nvPicPr>
        <p:blipFill>
          <a:blip r:embed="rId1"/>
          <a:srcRect l="0" r="0" t="0" b="0"/>
          <a:stretch/>
        </p:blipFill>
        <p:spPr>
          <a:xfrm>
            <a:off x="2661890" y="1835100"/>
            <a:ext cx="254000" cy="152400"/>
          </a:xfrm>
          <a:prstGeom prst="rect">
            <a:avLst/>
          </a:prstGeom>
        </p:spPr>
      </p:pic>
      <p:sp>
        <p:nvSpPr>
          <p:cNvPr id="5" name="Text 2"/>
          <p:cNvSpPr/>
          <p:nvPr/>
        </p:nvSpPr>
        <p:spPr>
          <a:xfrm>
            <a:off x="3017490" y="1676995"/>
            <a:ext cx="1747540" cy="468610"/>
          </a:xfrm>
          <a:prstGeom prst="roundRect">
            <a:avLst>
              <a:gd name="adj" fmla="val 21681"/>
            </a:avLst>
          </a:prstGeom>
          <a:solidFill>
            <a:srgbClr val="F6F4EE"/>
          </a:solidFill>
          <a:ln/>
        </p:spPr>
        <p:txBody>
          <a:bodyPr wrap="square" lIns="122642" tIns="97242" rIns="71842" bIns="71842" rtlCol="0" anchor="t">
            <a:normAutofit/>
          </a:bodyPr>
          <a:lstStyle/>
          <a:p>
            <a:pPr algn="l" indent="0" marL="0">
              <a:lnSpc>
                <a:spcPts val="1690"/>
              </a:lnSpc>
              <a:buNone/>
            </a:pPr>
            <a:r>
              <a:rPr lang="en-US" sz="1300" dirty="0">
                <a:solidFill>
                  <a:srgbClr val="1D2B23"/>
                </a:solidFill>
                <a:latin typeface="Arial" pitchFamily="34" charset="0"/>
                <a:ea typeface="Arial" pitchFamily="34" charset="-122"/>
                <a:cs typeface="Arial" pitchFamily="34" charset="-120"/>
              </a:rPr>
              <a:t>Resize to 224x224</a:t>
            </a:r>
            <a:endParaRPr lang="en-US" sz="1300" dirty="0"/>
          </a:p>
        </p:txBody>
      </p:sp>
      <p:pic>
        <p:nvPicPr>
          <p:cNvPr id="6" name="Image 1" descr="arrow-right">    </p:cNvPr>
          <p:cNvPicPr>
            <a:picLocks noChangeAspect="1"/>
          </p:cNvPicPr>
          <p:nvPr/>
        </p:nvPicPr>
        <p:blipFill>
          <a:blip r:embed="rId2"/>
          <a:srcRect l="0" r="0" t="0" b="0"/>
          <a:stretch/>
        </p:blipFill>
        <p:spPr>
          <a:xfrm>
            <a:off x="4866630" y="1835100"/>
            <a:ext cx="254000" cy="152400"/>
          </a:xfrm>
          <a:prstGeom prst="rect">
            <a:avLst/>
          </a:prstGeom>
        </p:spPr>
      </p:pic>
      <p:sp>
        <p:nvSpPr>
          <p:cNvPr id="7" name="Text 3"/>
          <p:cNvSpPr/>
          <p:nvPr/>
        </p:nvSpPr>
        <p:spPr>
          <a:xfrm>
            <a:off x="5222230" y="1569690"/>
            <a:ext cx="1747490" cy="683220"/>
          </a:xfrm>
          <a:prstGeom prst="roundRect">
            <a:avLst>
              <a:gd name="adj" fmla="val 14871"/>
            </a:avLst>
          </a:prstGeom>
          <a:solidFill>
            <a:srgbClr val="1D2B23"/>
          </a:solidFill>
          <a:ln/>
        </p:spPr>
        <p:txBody>
          <a:bodyPr wrap="square" lIns="122642" tIns="97242" rIns="71842" bIns="71842" rtlCol="0" anchor="t">
            <a:normAutofit/>
          </a:bodyPr>
          <a:lstStyle/>
          <a:p>
            <a:pPr algn="l" indent="0" marL="0">
              <a:lnSpc>
                <a:spcPts val="1690"/>
              </a:lnSpc>
              <a:buNone/>
            </a:pPr>
            <a:r>
              <a:rPr lang="en-US" sz="1300" dirty="0">
                <a:solidFill>
                  <a:srgbClr val="F6F4EE"/>
                </a:solidFill>
                <a:latin typeface="Arial" pitchFamily="34" charset="0"/>
                <a:ea typeface="Arial" pitchFamily="34" charset="-122"/>
                <a:cs typeface="Arial" pitchFamily="34" charset="-120"/>
              </a:rPr>
              <a:t>MobileNetV2, 8.7 MB</a:t>
            </a:r>
            <a:endParaRPr lang="en-US" sz="1300" dirty="0"/>
          </a:p>
        </p:txBody>
      </p:sp>
      <p:pic>
        <p:nvPicPr>
          <p:cNvPr id="8" name="Image 2" descr="arrow-right">    </p:cNvPr>
          <p:cNvPicPr>
            <a:picLocks noChangeAspect="1"/>
          </p:cNvPicPr>
          <p:nvPr/>
        </p:nvPicPr>
        <p:blipFill>
          <a:blip r:embed="rId3"/>
          <a:srcRect l="0" r="0" t="0" b="0"/>
          <a:stretch/>
        </p:blipFill>
        <p:spPr>
          <a:xfrm>
            <a:off x="7071320" y="1835100"/>
            <a:ext cx="254000" cy="152400"/>
          </a:xfrm>
          <a:prstGeom prst="rect">
            <a:avLst/>
          </a:prstGeom>
        </p:spPr>
      </p:pic>
      <p:sp>
        <p:nvSpPr>
          <p:cNvPr id="9" name="Text 4"/>
          <p:cNvSpPr/>
          <p:nvPr/>
        </p:nvSpPr>
        <p:spPr>
          <a:xfrm>
            <a:off x="7426920" y="1569690"/>
            <a:ext cx="1747540" cy="683220"/>
          </a:xfrm>
          <a:prstGeom prst="roundRect">
            <a:avLst>
              <a:gd name="adj" fmla="val 14871"/>
            </a:avLst>
          </a:prstGeom>
          <a:solidFill>
            <a:srgbClr val="F6F4EE"/>
          </a:solidFill>
          <a:ln/>
        </p:spPr>
        <p:txBody>
          <a:bodyPr wrap="square" lIns="122642" tIns="97242" rIns="71842" bIns="71842" rtlCol="0" anchor="t">
            <a:normAutofit/>
          </a:bodyPr>
          <a:lstStyle/>
          <a:p>
            <a:pPr algn="l" indent="0" marL="0">
              <a:lnSpc>
                <a:spcPts val="1690"/>
              </a:lnSpc>
              <a:buNone/>
            </a:pPr>
            <a:r>
              <a:rPr lang="en-US" sz="1300" dirty="0">
                <a:solidFill>
                  <a:srgbClr val="1D2B23"/>
                </a:solidFill>
                <a:latin typeface="Arial" pitchFamily="34" charset="0"/>
                <a:ea typeface="Arial" pitchFamily="34" charset="-122"/>
                <a:cs typeface="Arial" pitchFamily="34" charset="-120"/>
              </a:rPr>
              <a:t>10 class probabilities</a:t>
            </a:r>
            <a:endParaRPr lang="en-US" sz="1300" dirty="0"/>
          </a:p>
        </p:txBody>
      </p:sp>
      <p:pic>
        <p:nvPicPr>
          <p:cNvPr id="10" name="Image 3" descr="arrow-right">    </p:cNvPr>
          <p:cNvPicPr>
            <a:picLocks noChangeAspect="1"/>
          </p:cNvPicPr>
          <p:nvPr/>
        </p:nvPicPr>
        <p:blipFill>
          <a:blip r:embed="rId4"/>
          <a:srcRect l="0" r="0" t="0" b="0"/>
          <a:stretch/>
        </p:blipFill>
        <p:spPr>
          <a:xfrm>
            <a:off x="9276060" y="1835100"/>
            <a:ext cx="254000" cy="152400"/>
          </a:xfrm>
          <a:prstGeom prst="rect">
            <a:avLst/>
          </a:prstGeom>
        </p:spPr>
      </p:pic>
      <p:sp>
        <p:nvSpPr>
          <p:cNvPr id="11" name="Text 5"/>
          <p:cNvSpPr/>
          <p:nvPr/>
        </p:nvSpPr>
        <p:spPr>
          <a:xfrm>
            <a:off x="9631660" y="1569690"/>
            <a:ext cx="1747540" cy="683220"/>
          </a:xfrm>
          <a:prstGeom prst="roundRect">
            <a:avLst>
              <a:gd name="adj" fmla="val 14871"/>
            </a:avLst>
          </a:prstGeom>
          <a:solidFill>
            <a:srgbClr val="F6F4EE"/>
          </a:solidFill>
          <a:ln/>
        </p:spPr>
        <p:txBody>
          <a:bodyPr wrap="square" lIns="122642" tIns="97242" rIns="71842" bIns="71842" rtlCol="0" anchor="t">
            <a:normAutofit/>
          </a:bodyPr>
          <a:lstStyle/>
          <a:p>
            <a:pPr algn="l" indent="0" marL="0">
              <a:lnSpc>
                <a:spcPts val="1690"/>
              </a:lnSpc>
              <a:buNone/>
            </a:pPr>
            <a:r>
              <a:rPr lang="en-US" sz="1300" dirty="0">
                <a:solidFill>
                  <a:srgbClr val="1D2B23"/>
                </a:solidFill>
                <a:latin typeface="Arial" pitchFamily="34" charset="0"/>
                <a:ea typeface="Arial" pitchFamily="34" charset="-122"/>
                <a:cs typeface="Arial" pitchFamily="34" charset="-120"/>
              </a:rPr>
              <a:t>Top 3, confidence and what to do</a:t>
            </a:r>
            <a:endParaRPr lang="en-US" sz="1300" dirty="0"/>
          </a:p>
        </p:txBody>
      </p:sp>
      <p:sp>
        <p:nvSpPr>
          <p:cNvPr id="12" name="Shape 6"/>
          <p:cNvSpPr/>
          <p:nvPr/>
        </p:nvSpPr>
        <p:spPr>
          <a:xfrm>
            <a:off x="812800" y="2506911"/>
            <a:ext cx="5397500" cy="1061690"/>
          </a:xfrm>
          <a:prstGeom prst="roundRect">
            <a:avLst>
              <a:gd name="adj" fmla="val 9570"/>
            </a:avLst>
          </a:prstGeom>
          <a:solidFill>
            <a:srgbClr val="F6F4EE"/>
          </a:solidFill>
          <a:ln/>
        </p:spPr>
      </p:sp>
      <p:sp>
        <p:nvSpPr>
          <p:cNvPr id="13" name="Text 7"/>
          <p:cNvSpPr/>
          <p:nvPr/>
        </p:nvSpPr>
        <p:spPr>
          <a:xfrm>
            <a:off x="990600" y="2659311"/>
            <a:ext cx="519315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31A"/>
                </a:solidFill>
                <a:latin typeface="Arial" pitchFamily="34" charset="0"/>
                <a:ea typeface="Arial" pitchFamily="34" charset="-122"/>
                <a:cs typeface="Arial" pitchFamily="34" charset="-120"/>
              </a:rPr>
              <a:t>Warning if under 70% sure</a:t>
            </a:r>
            <a:endParaRPr lang="en-US" sz="1600" dirty="0"/>
          </a:p>
        </p:txBody>
      </p:sp>
      <p:sp>
        <p:nvSpPr>
          <p:cNvPr id="14" name="Text 8"/>
          <p:cNvSpPr/>
          <p:nvPr/>
        </p:nvSpPr>
        <p:spPr>
          <a:xfrm>
            <a:off x="990600" y="2953941"/>
            <a:ext cx="519315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B23"/>
                </a:solidFill>
                <a:latin typeface="Arial" pitchFamily="34" charset="0"/>
                <a:ea typeface="Arial" pitchFamily="34" charset="-122"/>
                <a:cs typeface="Arial" pitchFamily="34" charset="-120"/>
              </a:rPr>
              <a:t>Picked on the val set: under 70% the model was right only 61.9% of the time (84 images), above it 98.2%.</a:t>
            </a:r>
            <a:endParaRPr lang="en-US" sz="1300" dirty="0"/>
          </a:p>
        </p:txBody>
      </p:sp>
      <p:sp>
        <p:nvSpPr>
          <p:cNvPr id="15" name="Shape 9"/>
          <p:cNvSpPr/>
          <p:nvPr/>
        </p:nvSpPr>
        <p:spPr>
          <a:xfrm>
            <a:off x="812800" y="3721001"/>
            <a:ext cx="5397500" cy="1061690"/>
          </a:xfrm>
          <a:prstGeom prst="roundRect">
            <a:avLst>
              <a:gd name="adj" fmla="val 9570"/>
            </a:avLst>
          </a:prstGeom>
          <a:solidFill>
            <a:srgbClr val="F6F4EE"/>
          </a:solidFill>
          <a:ln/>
        </p:spPr>
      </p:sp>
      <p:sp>
        <p:nvSpPr>
          <p:cNvPr id="16" name="Text 10"/>
          <p:cNvSpPr/>
          <p:nvPr/>
        </p:nvSpPr>
        <p:spPr>
          <a:xfrm>
            <a:off x="990600" y="3873401"/>
            <a:ext cx="519315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8431A"/>
                </a:solidFill>
                <a:latin typeface="Arial" pitchFamily="34" charset="0"/>
                <a:ea typeface="Arial" pitchFamily="34" charset="-122"/>
                <a:cs typeface="Arial" pitchFamily="34" charset="-120"/>
              </a:rPr>
              <a:t>Live demo</a:t>
            </a:r>
            <a:endParaRPr lang="en-US" sz="1600" dirty="0"/>
          </a:p>
        </p:txBody>
      </p:sp>
      <p:sp>
        <p:nvSpPr>
          <p:cNvPr id="17" name="Text 11"/>
          <p:cNvSpPr/>
          <p:nvPr/>
        </p:nvSpPr>
        <p:spPr>
          <a:xfrm>
            <a:off x="990600" y="4168031"/>
            <a:ext cx="519315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B23"/>
                </a:solidFill>
                <a:latin typeface="Arial" pitchFamily="34" charset="0"/>
                <a:ea typeface="Arial" pitchFamily="34" charset="-122"/>
                <a:cs typeface="Arial" pitchFamily="34" charset="-120"/>
              </a:rPr>
              <a:t>3 samples it gets right, then one it gets wrong: a Late blight leaf it calls Healthy at 66.5%. The warning shows up.</a:t>
            </a:r>
            <a:endParaRPr lang="en-US" sz="1300" dirty="0"/>
          </a:p>
        </p:txBody>
      </p:sp>
      <p:sp>
        <p:nvSpPr>
          <p:cNvPr id="18" name="Shape 12"/>
          <p:cNvSpPr/>
          <p:nvPr/>
        </p:nvSpPr>
        <p:spPr>
          <a:xfrm>
            <a:off x="6467475" y="2510086"/>
            <a:ext cx="4908550" cy="2889250"/>
          </a:xfrm>
          <a:prstGeom prst="roundRect">
            <a:avLst>
              <a:gd name="adj" fmla="val 3407"/>
            </a:avLst>
          </a:prstGeom>
          <a:solidFill>
            <a:srgbClr val="FFFFFF"/>
          </a:solidFill>
          <a:ln w="6350">
            <a:solidFill>
              <a:srgbClr val="DCDFD6"/>
            </a:solidFill>
            <a:prstDash val="solid"/>
          </a:ln>
        </p:spPr>
      </p:sp>
      <p:pic>
        <p:nvPicPr>
          <p:cNvPr id="19" name="Image 4" descr="App screenshot of the known failure case with the low-confidence warning">    </p:cNvPr>
          <p:cNvPicPr>
            <a:picLocks noChangeAspect="1"/>
          </p:cNvPicPr>
          <p:nvPr/>
        </p:nvPicPr>
        <p:blipFill>
          <a:blip r:embed="rId5"/>
          <a:srcRect l="0" r="0" t="-26" b="-26"/>
          <a:stretch/>
        </p:blipFill>
        <p:spPr>
          <a:xfrm>
            <a:off x="6572250" y="2614861"/>
            <a:ext cx="4699000" cy="2679700"/>
          </a:xfrm>
          <a:prstGeom prst="rect">
            <a:avLst/>
          </a:prstGeom>
        </p:spPr>
      </p:pic>
      <p:sp>
        <p:nvSpPr>
          <p:cNvPr id="20"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25B"/>
                </a:solidFill>
                <a:latin typeface="Arial" pitchFamily="34" charset="0"/>
                <a:ea typeface="Arial" pitchFamily="34" charset="-122"/>
                <a:cs typeface="Arial" pitchFamily="34" charset="-120"/>
              </a:rPr>
              <a:t>7 · app/app.py · Warning level chosen in notebook 05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D2B2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4EE"/>
                </a:solidFill>
                <a:latin typeface="Georgia" pitchFamily="18" charset="0"/>
                <a:ea typeface="Georgia" pitchFamily="18" charset="-122"/>
                <a:cs typeface="Georgia" pitchFamily="18" charset="-120"/>
              </a:rPr>
              <a:t>Limits and what's next</a:t>
            </a:r>
            <a:endParaRPr lang="en-US" sz="3600" dirty="0"/>
          </a:p>
        </p:txBody>
      </p:sp>
      <p:sp>
        <p:nvSpPr>
          <p:cNvPr id="3" name="Shape 1"/>
          <p:cNvSpPr/>
          <p:nvPr/>
        </p:nvSpPr>
        <p:spPr>
          <a:xfrm>
            <a:off x="812800" y="1620490"/>
            <a:ext cx="3386634" cy="2451001"/>
          </a:xfrm>
          <a:prstGeom prst="roundRect">
            <a:avLst>
              <a:gd name="adj" fmla="val 4145"/>
            </a:avLst>
          </a:prstGeom>
          <a:solidFill>
            <a:srgbClr val="26382D"/>
          </a:solidFill>
          <a:ln/>
        </p:spPr>
      </p:sp>
      <p:sp>
        <p:nvSpPr>
          <p:cNvPr id="4" name="Text 2"/>
          <p:cNvSpPr/>
          <p:nvPr/>
        </p:nvSpPr>
        <p:spPr>
          <a:xfrm>
            <a:off x="1041400" y="1849090"/>
            <a:ext cx="301731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8A5D"/>
                </a:solidFill>
                <a:latin typeface="Arial" pitchFamily="34" charset="0"/>
                <a:ea typeface="Arial" pitchFamily="34" charset="-122"/>
                <a:cs typeface="Arial" pitchFamily="34" charset="-120"/>
              </a:rPr>
              <a:t>What it can't do</a:t>
            </a:r>
            <a:endParaRPr lang="en-US" sz="1800" dirty="0"/>
          </a:p>
        </p:txBody>
      </p:sp>
      <p:sp>
        <p:nvSpPr>
          <p:cNvPr id="5" name="Text 3"/>
          <p:cNvSpPr/>
          <p:nvPr/>
        </p:nvSpPr>
        <p:spPr>
          <a:xfrm>
            <a:off x="1139444" y="2224980"/>
            <a:ext cx="2911653" cy="1643311"/>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Only seen lab photos. Not properly tested on field photos, and can be confidently wrong there</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Tomato only. Any photo still gets one of the 10 labels</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Weakest on Early blight, and called 7 sick leaves healthy</a:t>
            </a:r>
            <a:endParaRPr lang="en-US" sz="1300" dirty="0"/>
          </a:p>
        </p:txBody>
      </p:sp>
      <p:sp>
        <p:nvSpPr>
          <p:cNvPr id="6" name="Shape 4"/>
          <p:cNvSpPr/>
          <p:nvPr/>
        </p:nvSpPr>
        <p:spPr>
          <a:xfrm>
            <a:off x="4402634" y="1620490"/>
            <a:ext cx="3386683" cy="2451001"/>
          </a:xfrm>
          <a:prstGeom prst="roundRect">
            <a:avLst>
              <a:gd name="adj" fmla="val 4145"/>
            </a:avLst>
          </a:prstGeom>
          <a:solidFill>
            <a:srgbClr val="26382D"/>
          </a:solidFill>
          <a:ln/>
        </p:spPr>
      </p:sp>
      <p:sp>
        <p:nvSpPr>
          <p:cNvPr id="7" name="Text 5"/>
          <p:cNvSpPr/>
          <p:nvPr/>
        </p:nvSpPr>
        <p:spPr>
          <a:xfrm>
            <a:off x="4631234" y="1849090"/>
            <a:ext cx="301736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8A5D"/>
                </a:solidFill>
                <a:latin typeface="Arial" pitchFamily="34" charset="0"/>
                <a:ea typeface="Arial" pitchFamily="34" charset="-122"/>
                <a:cs typeface="Arial" pitchFamily="34" charset="-120"/>
              </a:rPr>
              <a:t>How it should be used</a:t>
            </a:r>
            <a:endParaRPr lang="en-US" sz="1800" dirty="0"/>
          </a:p>
        </p:txBody>
      </p:sp>
      <p:sp>
        <p:nvSpPr>
          <p:cNvPr id="8" name="Text 6"/>
          <p:cNvSpPr/>
          <p:nvPr/>
        </p:nvSpPr>
        <p:spPr>
          <a:xfrm>
            <a:off x="4729278" y="2224980"/>
            <a:ext cx="2911704" cy="118105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A first check, not a diagnosis</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Shows how sure it is, warns under 70%, lists its limits</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Always tells the user to check with an expert</a:t>
            </a:r>
            <a:endParaRPr lang="en-US" sz="1300" dirty="0"/>
          </a:p>
        </p:txBody>
      </p:sp>
      <p:sp>
        <p:nvSpPr>
          <p:cNvPr id="9" name="Shape 7"/>
          <p:cNvSpPr/>
          <p:nvPr/>
        </p:nvSpPr>
        <p:spPr>
          <a:xfrm>
            <a:off x="7992517" y="1620490"/>
            <a:ext cx="3386634" cy="2451001"/>
          </a:xfrm>
          <a:prstGeom prst="roundRect">
            <a:avLst>
              <a:gd name="adj" fmla="val 4145"/>
            </a:avLst>
          </a:prstGeom>
          <a:solidFill>
            <a:srgbClr val="26382D"/>
          </a:solidFill>
          <a:ln/>
        </p:spPr>
      </p:sp>
      <p:sp>
        <p:nvSpPr>
          <p:cNvPr id="10" name="Text 8"/>
          <p:cNvSpPr/>
          <p:nvPr/>
        </p:nvSpPr>
        <p:spPr>
          <a:xfrm>
            <a:off x="8221117" y="1849090"/>
            <a:ext cx="301731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8A5D"/>
                </a:solidFill>
                <a:latin typeface="Arial" pitchFamily="34" charset="0"/>
                <a:ea typeface="Arial" pitchFamily="34" charset="-122"/>
                <a:cs typeface="Arial" pitchFamily="34" charset="-120"/>
              </a:rPr>
              <a:t>What I'd do next</a:t>
            </a:r>
            <a:endParaRPr lang="en-US" sz="1800" dirty="0"/>
          </a:p>
        </p:txBody>
      </p:sp>
      <p:sp>
        <p:nvSpPr>
          <p:cNvPr id="11" name="Text 9"/>
          <p:cNvSpPr/>
          <p:nvPr/>
        </p:nvSpPr>
        <p:spPr>
          <a:xfrm>
            <a:off x="8319161" y="2224980"/>
            <a:ext cx="2911653" cy="118105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Test on real field photos</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Train on field photos, stronger augmentation</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Fine-tune ResNet50</a:t>
            </a:r>
            <a:endParaRPr lang="en-US" sz="1300" dirty="0"/>
          </a:p>
          <a:p>
            <a:pPr algn="l" marL="155956" indent="-155956">
              <a:lnSpc>
                <a:spcPts val="1820"/>
              </a:lnSpc>
              <a:buSzPct val="100000"/>
              <a:buChar char="•"/>
            </a:pPr>
            <a:r>
              <a:rPr lang="en-US" sz="1300" dirty="0">
                <a:solidFill>
                  <a:srgbClr val="F6F4EE"/>
                </a:solidFill>
                <a:latin typeface="Arial" pitchFamily="34" charset="0"/>
                <a:ea typeface="Arial" pitchFamily="34" charset="-122"/>
                <a:cs typeface="Arial" pitchFamily="34" charset="-120"/>
              </a:rPr>
              <a:t>A phone app using TensorFlow Lite</a:t>
            </a:r>
            <a:endParaRPr lang="en-US" sz="1300" dirty="0"/>
          </a:p>
        </p:txBody>
      </p:sp>
      <p:sp>
        <p:nvSpPr>
          <p:cNvPr id="12" name="Text 10"/>
          <p:cNvSpPr/>
          <p:nvPr/>
        </p:nvSpPr>
        <p:spPr>
          <a:xfrm>
            <a:off x="812800" y="437629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ED8"/>
                </a:solidFill>
                <a:latin typeface="Arial" pitchFamily="34" charset="0"/>
                <a:ea typeface="Arial" pitchFamily="34" charset="-122"/>
                <a:cs typeface="Arial" pitchFamily="34" charset="-120"/>
              </a:rPr>
              <a:t>Code and notebooks: github.com/gyanesh5522apte-web/plant-disease-detection</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AC"/>
                </a:solidFill>
                <a:latin typeface="Arial" pitchFamily="34" charset="0"/>
                <a:ea typeface="Arial" pitchFamily="34" charset="-122"/>
                <a:cs typeface="Arial" pitchFamily="34" charset="-120"/>
              </a:rPr>
              <a:t>8 · Thank you</a:t>
            </a:r>
            <a:endParaRPr lang="en-US" sz="1200" dirty="0"/>
          </a:p>
        </p:txBody>
      </p:sp>
    </p:spTree>
  </p:cSld>
  <p:clrMapOvr>
    <a:masterClrMapping/>
  </p:clrMapOvr>
</p:sld>
</file>

<file path=ppt/theme/theme1.xml><?xml version="1.0" encoding="utf-8"?>
<a:theme xmlns:a="http://schemas.openxmlformats.org/drawingml/2006/main" name="Tomato Leaf Disease Detection">
  <a:themeElements>
    <a:clrScheme name="Tomato Leaf Disease Detection">
      <a:dk1>
        <a:srgbClr val="1D2B23"/>
      </a:dk1>
      <a:lt1>
        <a:srgbClr val="F6F4EE"/>
      </a:lt1>
      <a:dk2>
        <a:srgbClr val="535D56"/>
      </a:dk2>
      <a:lt2>
        <a:srgbClr val="E0E0DA"/>
      </a:lt2>
      <a:accent1>
        <a:srgbClr val="F08A5D"/>
      </a:accent1>
      <a:accent2>
        <a:srgbClr val="A8431A"/>
      </a:accent2>
      <a:accent3>
        <a:srgbClr val="C4511F"/>
      </a:accent3>
      <a:accent4>
        <a:srgbClr val="56625B"/>
      </a:accent4>
      <a:accent5>
        <a:srgbClr val="D9DED8"/>
      </a:accent5>
      <a:accent6>
        <a:srgbClr val="A9B3AC"/>
      </a:accent6>
      <a:hlink>
        <a:srgbClr val="0563C1"/>
      </a:hlink>
      <a:folHlink>
        <a:srgbClr val="954F72"/>
      </a:folHlink>
    </a:clrScheme>
    <a:fontScheme name="Tomato Leaf Disease Detec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Tomato Leaf Disease Detection</dc:title>
  <dc:subject/>
  <dc:creator/>
  <cp:lastModifiedBy/>
  <cp:revision>1</cp:revision>
  <dcterms:created xsi:type="dcterms:W3CDTF">2026-10-12T10:24:33Z</dcterms:created>
  <dcterms:modified xsi:type="dcterms:W3CDTF">2026-10-12T10:24:33Z</dcterms:modified>
</cp:coreProperties>
</file>